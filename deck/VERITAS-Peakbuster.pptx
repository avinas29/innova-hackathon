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VERITAS. Team Peakbuster — Avinash, Atulaya Raj, Mohammad Umam Ali, IIT Guwahati.
The problem is not that AI is sometimes wrong. It is that AI is wrong with the exact same confidence it is right. There is no signal to the user.
Three documented facts frame this. One: LLMs state falsehoods fluently. Two: when you ask a model how confident it is, that number carries roughly 0.2 expected calibration error — it is close to meaningless. Three: models almost never abstain, even when abstention is provably the optimal action.
Our thesis: a research system's most valuable output is not the answer. It is an honest, calibrated statement of how much you should trust that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us from every other team in this room.
The obvious build is 'several agents that debate'. We researched it and found it does not work. Under a Dirichlet-Categorical model, debate forms a martingale — expected correctness does not improve across rounds when agents share inputs. Empirically, weak models correct only 3.6% of stance biases, and agents abandon correct positions to conform.
So we changed one variable. Our Advocate and Sceptic receive DISJOINT halves of the evidence. Now disagreement means they genuinely saw different things — that is real information aggregation rather than personality clash.
The four innovations underneath are what a fact-checker would actually ask for. The most defensible is independence clustering: ten outlets reprinting one wire story is ONE piece of evidence. Counting it as ten inflates confidence exactly where a claim is most viral — the worst possible place to be overconfident.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agents, orchestrated by LangGraph as an explicit state machine rather than a chat free-for-all.
Two dynamic fan-outs use LangGraph's Send API. The first spawns a researcher per question; the second spawns a verification branch per check-worthy claim. That is genuine map-reduce over a workload whose width is not known until runtime.
Why LangGraph over CrewAI or AutoGen: our workload is N claims by M evidence items verified independently then reduced. Send expresses that in one line. CrewAI's role metaphor would need a dynamically constructed crew per run. AutoGen we rejected outright — three months stale, and CC-BY-4.0 is not a software licence.
The footnote matters more than it looks. LangGraph's default channel behaviour is last-write-wins, so a parallel branch writing to an unreduced key silently loses data — the run completes, just with a fraction of the evidence. We have a test that fails the build if any fan-out key lacks a reducer.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stages. The first four build a report; the last four try to tear it down.
Stage 4 is the highest-leverage step in the whole system: claims must be atomic AND decontextualised. 'It grew 40% that year' is unverifiable in isolation and, worse, will be silently verified against the wrong proposition. We rewrite it to stand alone before anything touches it.
Stage 5 is the one nobody else has. Four independent signals feed a union-find: SimHash for verbatim copies, embedding cosine for paraphrase, same-domain, and longest-common-token-run for quotation. On the run shown, twenty evidence items collapsed to twelve genuinely independent clusters.
That directly changes the published number. One independent source caps confidence at 0.70 no matter how emphatic it is — because a single source can simply be wrong and we would have no way to know. Three or more lifts the ceiling to 0.93.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all deployed and running right now.
The engineering-depth box is where I would probe if I were judging, so let me pre-empt it. Every item there is a bug we hit and fixed with evidence.
Token-per-minute limiting: Groq caps TOKENS, not requests. A request-only limiter sails straight past that. Per-model tracking: quotas are per model, so pooling them throttled our high-volume model to the small model's budget — fixing that gave roughly four times the usable throughput. Prompt auto-fitting: a single call larger than the per-minute cap is a permanent 413 that no retry can fix, so we measure and trim before sending. Retry delay: the provider tells you 'retry in 49 seconds'; our old exponential backoff capped at 20 and was guaranteed to fail.
And the whole 230-test suite runs with zero network and zero API keys — hermeticity is an enforced property, not an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mock-up. It is deployed at innova-hackathon.onrender.com and you can use it now.
Three real outputs. A true claim: SUPPORTED at 0.93. The same claim falsified: REFUTED at 0.85. And critically, when evidence is thin the system returns NOT ESTABLISHED rather than guessing.
The right-hand panel is my favourite result. Verifying the Eiffel Tower, retrieval also pulled in Paris, Texas's Eiffel Tower and a Las Vegas replica. A keyword system would have counted those as confirmations. Ours scored both as weak refutations at 0.10 — it understood they were different entities. Then, because all three came from the same domain, independence clustering collapsed them to a single source, which is why confidence stayed at 0.70 rather than inflating.
A full research run: 248 seconds, 24 sources across 15 domains, 44 model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domains where a confident hallucination does real damage — and where per-claim provenance is worth paying for.
On scaling, every swap is already behind an interface. SQLite to Postgres is a connection string because the schema was written Postgres-compatible from day one. The vector store exposes the same shape an ANN index would, so pgvector or FAISS drops in. The API is stateless and runs are checkpointed, so horizontal scaling and mid-flight restarts both work today.
The accessibility argument matters as much as the technical one. This runs at zero cost on free tiers. We split the two model roles across two providers to draw on two independent quotas simultaneously — and we split by role rather than round-robin specifically so identical prompts always hit the same provider and stay cacheable and reproducible.
A student in any university can run this today for nothing. That is a deliberate design outcome, not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single sentence I want you to remember: anyone can build an agent that answers. We built one that tells you when it shouldn't.
We started by researching what does NOT work and found published evidence that the obvious multi-agent-debate architecture is a martingale. We changed the design because of that evidence rather than building the intuitive thing.
The system is real: thirteen agents, two dynamic fan-outs, 230 passing tests, zero lint errors, deployed publicly, running at zero cost.
And the confidence number we publish is a measurement with a ceiling grounded in source independence — not a language model guessing about itself.
The demo is live right now. Please try to break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7863840" y="-1371600"/>
            <a:ext cx="5852160" cy="5852160"/>
          </a:xfrm>
          <a:prstGeom prst="ellipse">
            <a:avLst/>
          </a:prstGeom>
          <a:solidFill>
            <a:srgbClr val="8B5CF6">
              <a:alpha val="12000"/>
            </a:srgbClr>
          </a:solidFill>
          <a:ln w="12700">
            <a:solidFill>
              <a:srgbClr val="333333"/>
            </a:solidFill>
            <a:prstDash val="solid"/>
          </a:ln>
        </p:spPr>
      </p:sp>
      <p:sp>
        <p:nvSpPr>
          <p:cNvPr id="3" name="Shape 1"/>
          <p:cNvSpPr/>
          <p:nvPr/>
        </p:nvSpPr>
        <p:spPr>
          <a:xfrm>
            <a:off x="9052560" y="2743200"/>
            <a:ext cx="4023360" cy="4023360"/>
          </a:xfrm>
          <a:prstGeom prst="ellipse">
            <a:avLst/>
          </a:prstGeom>
          <a:solidFill>
            <a:srgbClr val="22D3EE">
              <a:alpha val="8000"/>
            </a:srgbClr>
          </a:solidFill>
          <a:ln w="12700">
            <a:solidFill>
              <a:srgbClr val="333333"/>
            </a:solidFill>
            <a:prstDash val="solid"/>
          </a:ln>
        </p:spPr>
      </p:sp>
      <p:sp>
        <p:nvSpPr>
          <p:cNvPr id="4" name="Text 2"/>
          <p:cNvSpPr/>
          <p:nvPr/>
        </p:nvSpPr>
        <p:spPr>
          <a:xfrm>
            <a:off x="640080" y="502920"/>
            <a:ext cx="8229600" cy="274320"/>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TEAM PEAKBUSTER   ·   INNOVAHACK 2026   ·   DOMAIN 3: GEN AI</a:t>
            </a:r>
            <a:endParaRPr lang="en-US" sz="1100" dirty="0"/>
          </a:p>
        </p:txBody>
      </p:sp>
      <p:sp>
        <p:nvSpPr>
          <p:cNvPr id="5" name="Text 3"/>
          <p:cNvSpPr/>
          <p:nvPr/>
        </p:nvSpPr>
        <p:spPr>
          <a:xfrm>
            <a:off x="640080" y="960120"/>
            <a:ext cx="7863840" cy="1234440"/>
          </a:xfrm>
          <a:prstGeom prst="rect">
            <a:avLst/>
          </a:prstGeom>
          <a:noFill/>
          <a:ln/>
        </p:spPr>
        <p:txBody>
          <a:bodyPr wrap="square" lIns="0" tIns="0" rIns="0" bIns="0" rtlCol="0" anchor="ctr"/>
          <a:lstStyle/>
          <a:p>
            <a:pPr indent="0" marL="0">
              <a:buNone/>
            </a:pPr>
            <a:r>
              <a:rPr lang="en-US" sz="7600" b="1" spc="100" kern="0" dirty="0">
                <a:solidFill>
                  <a:srgbClr val="F4F4F5"/>
                </a:solidFill>
                <a:latin typeface="Calibri" pitchFamily="34" charset="0"/>
                <a:ea typeface="Calibri" pitchFamily="34" charset="-122"/>
                <a:cs typeface="Calibri" pitchFamily="34" charset="-120"/>
              </a:rPr>
              <a:t>VERITAS</a:t>
            </a:r>
            <a:endParaRPr lang="en-US" sz="7600" dirty="0"/>
          </a:p>
        </p:txBody>
      </p:sp>
      <p:sp>
        <p:nvSpPr>
          <p:cNvPr id="6" name="Text 4"/>
          <p:cNvSpPr/>
          <p:nvPr/>
        </p:nvSpPr>
        <p:spPr>
          <a:xfrm>
            <a:off x="640080" y="2148840"/>
            <a:ext cx="7863840" cy="502920"/>
          </a:xfrm>
          <a:prstGeom prst="rect">
            <a:avLst/>
          </a:prstGeom>
          <a:noFill/>
          <a:ln/>
        </p:spPr>
        <p:txBody>
          <a:bodyPr wrap="square" lIns="0" tIns="0" rIns="0" bIns="0" rtlCol="0" anchor="ctr"/>
          <a:lstStyle/>
          <a:p>
            <a:pPr indent="0" marL="0">
              <a:buNone/>
            </a:pPr>
            <a:r>
              <a:rPr lang="en-US" sz="2500" i="1" dirty="0">
                <a:solidFill>
                  <a:srgbClr val="8B5CF6"/>
                </a:solidFill>
                <a:latin typeface="Calibri" pitchFamily="34" charset="0"/>
                <a:ea typeface="Calibri" pitchFamily="34" charset="-122"/>
                <a:cs typeface="Calibri" pitchFamily="34" charset="-120"/>
              </a:rPr>
              <a:t>AI that knows what it doesn't know.</a:t>
            </a:r>
            <a:endParaRPr lang="en-US" sz="2500" dirty="0"/>
          </a:p>
        </p:txBody>
      </p:sp>
      <p:sp>
        <p:nvSpPr>
          <p:cNvPr id="7" name="Text 5"/>
          <p:cNvSpPr/>
          <p:nvPr/>
        </p:nvSpPr>
        <p:spPr>
          <a:xfrm>
            <a:off x="640080" y="2724912"/>
            <a:ext cx="7680960" cy="548640"/>
          </a:xfrm>
          <a:prstGeom prst="rect">
            <a:avLst/>
          </a:prstGeom>
          <a:noFill/>
          <a:ln/>
        </p:spPr>
        <p:txBody>
          <a:bodyPr wrap="square" lIns="0" tIns="0" rIns="0" bIns="0" rtlCol="0" anchor="ctr"/>
          <a:lstStyle/>
          <a:p>
            <a:pPr indent="0" marL="0">
              <a:buNone/>
            </a:pPr>
            <a:r>
              <a:rPr lang="en-US" sz="1400" dirty="0">
                <a:solidFill>
                  <a:srgbClr val="9CA3AF"/>
                </a:solidFill>
                <a:latin typeface="Calibri" pitchFamily="34" charset="0"/>
                <a:ea typeface="Calibri" pitchFamily="34" charset="-122"/>
                <a:cs typeface="Calibri" pitchFamily="34" charset="-120"/>
              </a:rPr>
              <a:t>Every claim decomposed, verified against independent sources, and scored with calibrated confidence.</a:t>
            </a:r>
            <a:endParaRPr lang="en-US" sz="1400" dirty="0"/>
          </a:p>
        </p:txBody>
      </p:sp>
      <p:sp>
        <p:nvSpPr>
          <p:cNvPr id="8" name="Shape 6"/>
          <p:cNvSpPr/>
          <p:nvPr/>
        </p:nvSpPr>
        <p:spPr>
          <a:xfrm>
            <a:off x="640080" y="3520440"/>
            <a:ext cx="3566160" cy="1481328"/>
          </a:xfrm>
          <a:prstGeom prst="roundRect">
            <a:avLst>
              <a:gd name="adj" fmla="val 7407"/>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9" name="Shape 7"/>
          <p:cNvSpPr/>
          <p:nvPr/>
        </p:nvSpPr>
        <p:spPr>
          <a:xfrm>
            <a:off x="868680" y="3730752"/>
            <a:ext cx="310896" cy="310896"/>
          </a:xfrm>
          <a:prstGeom prst="ellipse">
            <a:avLst/>
          </a:prstGeom>
          <a:solidFill>
            <a:srgbClr val="FB7185"/>
          </a:solidFill>
          <a:ln w="12700">
            <a:solidFill>
              <a:srgbClr val="FB7185"/>
            </a:solidFill>
            <a:prstDash val="solid"/>
          </a:ln>
        </p:spPr>
      </p:sp>
      <p:sp>
        <p:nvSpPr>
          <p:cNvPr id="10" name="Text 8"/>
          <p:cNvSpPr/>
          <p:nvPr/>
        </p:nvSpPr>
        <p:spPr>
          <a:xfrm>
            <a:off x="868680" y="373075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1280160" y="3712464"/>
            <a:ext cx="2743200" cy="292608"/>
          </a:xfrm>
          <a:prstGeom prst="rect">
            <a:avLst/>
          </a:prstGeom>
          <a:noFill/>
          <a:ln/>
        </p:spPr>
        <p:txBody>
          <a:bodyPr wrap="square" lIns="0" tIns="0" rIns="0" bIns="0" rtlCol="0" anchor="ctr"/>
          <a:lstStyle/>
          <a:p>
            <a:pPr indent="0" marL="0">
              <a:buNone/>
            </a:pPr>
            <a:r>
              <a:rPr lang="en-US" sz="1400" b="1" dirty="0">
                <a:solidFill>
                  <a:srgbClr val="F4F4F5"/>
                </a:solidFill>
                <a:latin typeface="Calibri" pitchFamily="34" charset="0"/>
                <a:ea typeface="Calibri" pitchFamily="34" charset="-122"/>
                <a:cs typeface="Calibri" pitchFamily="34" charset="-120"/>
              </a:rPr>
              <a:t>Confidently wrong</a:t>
            </a:r>
            <a:endParaRPr lang="en-US" sz="1400" dirty="0"/>
          </a:p>
        </p:txBody>
      </p:sp>
      <p:sp>
        <p:nvSpPr>
          <p:cNvPr id="12" name="Text 10"/>
          <p:cNvSpPr/>
          <p:nvPr/>
        </p:nvSpPr>
        <p:spPr>
          <a:xfrm>
            <a:off x="868680" y="4133088"/>
            <a:ext cx="3108960" cy="731520"/>
          </a:xfrm>
          <a:prstGeom prst="rect">
            <a:avLst/>
          </a:prstGeom>
          <a:noFill/>
          <a:ln/>
        </p:spPr>
        <p:txBody>
          <a:bodyPr wrap="square" lIns="0" tIns="0" rIns="0" bIns="0" rtlCol="0" anchor="ctr"/>
          <a:lstStyle/>
          <a:p>
            <a:pPr indent="0" marL="0">
              <a:buNone/>
            </a:pPr>
            <a:r>
              <a:rPr lang="en-US" sz="1150" dirty="0">
                <a:solidFill>
                  <a:srgbClr val="9CA3AF"/>
                </a:solidFill>
                <a:latin typeface="Calibri" pitchFamily="34" charset="0"/>
                <a:ea typeface="Calibri" pitchFamily="34" charset="-122"/>
                <a:cs typeface="Calibri" pitchFamily="34" charset="-120"/>
              </a:rPr>
              <a:t>LLMs state falsehoods with the same certainty as facts.</a:t>
            </a:r>
            <a:endParaRPr lang="en-US" sz="1150" dirty="0"/>
          </a:p>
        </p:txBody>
      </p:sp>
      <p:sp>
        <p:nvSpPr>
          <p:cNvPr id="13" name="Shape 11"/>
          <p:cNvSpPr/>
          <p:nvPr/>
        </p:nvSpPr>
        <p:spPr>
          <a:xfrm>
            <a:off x="4389120" y="3520440"/>
            <a:ext cx="3566160" cy="1481328"/>
          </a:xfrm>
          <a:prstGeom prst="roundRect">
            <a:avLst>
              <a:gd name="adj" fmla="val 7407"/>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14" name="Shape 12"/>
          <p:cNvSpPr/>
          <p:nvPr/>
        </p:nvSpPr>
        <p:spPr>
          <a:xfrm>
            <a:off x="4617720" y="3730752"/>
            <a:ext cx="310896" cy="310896"/>
          </a:xfrm>
          <a:prstGeom prst="ellipse">
            <a:avLst/>
          </a:prstGeom>
          <a:solidFill>
            <a:srgbClr val="FBBF24"/>
          </a:solidFill>
          <a:ln w="12700">
            <a:solidFill>
              <a:srgbClr val="FBBF24"/>
            </a:solidFill>
            <a:prstDash val="solid"/>
          </a:ln>
        </p:spPr>
      </p:sp>
      <p:sp>
        <p:nvSpPr>
          <p:cNvPr id="15" name="Text 13"/>
          <p:cNvSpPr/>
          <p:nvPr/>
        </p:nvSpPr>
        <p:spPr>
          <a:xfrm>
            <a:off x="4617720" y="373075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5029200" y="3712464"/>
            <a:ext cx="2743200" cy="292608"/>
          </a:xfrm>
          <a:prstGeom prst="rect">
            <a:avLst/>
          </a:prstGeom>
          <a:noFill/>
          <a:ln/>
        </p:spPr>
        <p:txBody>
          <a:bodyPr wrap="square" lIns="0" tIns="0" rIns="0" bIns="0" rtlCol="0" anchor="ctr"/>
          <a:lstStyle/>
          <a:p>
            <a:pPr indent="0" marL="0">
              <a:buNone/>
            </a:pPr>
            <a:r>
              <a:rPr lang="en-US" sz="1400" b="1" dirty="0">
                <a:solidFill>
                  <a:srgbClr val="F4F4F5"/>
                </a:solidFill>
                <a:latin typeface="Calibri" pitchFamily="34" charset="0"/>
                <a:ea typeface="Calibri" pitchFamily="34" charset="-122"/>
                <a:cs typeface="Calibri" pitchFamily="34" charset="-120"/>
              </a:rPr>
              <a:t>Miscalibrated</a:t>
            </a:r>
            <a:endParaRPr lang="en-US" sz="1400" dirty="0"/>
          </a:p>
        </p:txBody>
      </p:sp>
      <p:sp>
        <p:nvSpPr>
          <p:cNvPr id="17" name="Text 15"/>
          <p:cNvSpPr/>
          <p:nvPr/>
        </p:nvSpPr>
        <p:spPr>
          <a:xfrm>
            <a:off x="4617720" y="4133088"/>
            <a:ext cx="3108960" cy="731520"/>
          </a:xfrm>
          <a:prstGeom prst="rect">
            <a:avLst/>
          </a:prstGeom>
          <a:noFill/>
          <a:ln/>
        </p:spPr>
        <p:txBody>
          <a:bodyPr wrap="square" lIns="0" tIns="0" rIns="0" bIns="0" rtlCol="0" anchor="ctr"/>
          <a:lstStyle/>
          <a:p>
            <a:pPr indent="0" marL="0">
              <a:buNone/>
            </a:pPr>
            <a:r>
              <a:rPr lang="en-US" sz="1150" dirty="0">
                <a:solidFill>
                  <a:srgbClr val="9CA3AF"/>
                </a:solidFill>
                <a:latin typeface="Calibri" pitchFamily="34" charset="0"/>
                <a:ea typeface="Calibri" pitchFamily="34" charset="-122"/>
                <a:cs typeface="Calibri" pitchFamily="34" charset="-120"/>
              </a:rPr>
              <a:t>Verbalised confidence carries ~0.2 expected calibration error.</a:t>
            </a:r>
            <a:endParaRPr lang="en-US" sz="1150" dirty="0"/>
          </a:p>
        </p:txBody>
      </p:sp>
      <p:sp>
        <p:nvSpPr>
          <p:cNvPr id="18" name="Shape 16"/>
          <p:cNvSpPr/>
          <p:nvPr/>
        </p:nvSpPr>
        <p:spPr>
          <a:xfrm>
            <a:off x="8138160" y="3520440"/>
            <a:ext cx="3383280" cy="1481328"/>
          </a:xfrm>
          <a:prstGeom prst="roundRect">
            <a:avLst>
              <a:gd name="adj" fmla="val 7407"/>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19" name="Shape 17"/>
          <p:cNvSpPr/>
          <p:nvPr/>
        </p:nvSpPr>
        <p:spPr>
          <a:xfrm>
            <a:off x="8366760" y="3730752"/>
            <a:ext cx="310896" cy="310896"/>
          </a:xfrm>
          <a:prstGeom prst="ellipse">
            <a:avLst/>
          </a:prstGeom>
          <a:solidFill>
            <a:srgbClr val="8B5CF6"/>
          </a:solidFill>
          <a:ln w="12700">
            <a:solidFill>
              <a:srgbClr val="8B5CF6"/>
            </a:solidFill>
            <a:prstDash val="solid"/>
          </a:ln>
        </p:spPr>
      </p:sp>
      <p:sp>
        <p:nvSpPr>
          <p:cNvPr id="20" name="Text 18"/>
          <p:cNvSpPr/>
          <p:nvPr/>
        </p:nvSpPr>
        <p:spPr>
          <a:xfrm>
            <a:off x="8366760" y="373075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0</a:t>
            </a:r>
            <a:endParaRPr lang="en-US" sz="1300" dirty="0"/>
          </a:p>
        </p:txBody>
      </p:sp>
      <p:sp>
        <p:nvSpPr>
          <p:cNvPr id="21" name="Text 19"/>
          <p:cNvSpPr/>
          <p:nvPr/>
        </p:nvSpPr>
        <p:spPr>
          <a:xfrm>
            <a:off x="8778240" y="3712464"/>
            <a:ext cx="2560320" cy="292608"/>
          </a:xfrm>
          <a:prstGeom prst="rect">
            <a:avLst/>
          </a:prstGeom>
          <a:noFill/>
          <a:ln/>
        </p:spPr>
        <p:txBody>
          <a:bodyPr wrap="square" lIns="0" tIns="0" rIns="0" bIns="0" rtlCol="0" anchor="ctr"/>
          <a:lstStyle/>
          <a:p>
            <a:pPr indent="0" marL="0">
              <a:buNone/>
            </a:pPr>
            <a:r>
              <a:rPr lang="en-US" sz="1400" b="1" dirty="0">
                <a:solidFill>
                  <a:srgbClr val="F4F4F5"/>
                </a:solidFill>
                <a:latin typeface="Calibri" pitchFamily="34" charset="0"/>
                <a:ea typeface="Calibri" pitchFamily="34" charset="-122"/>
                <a:cs typeface="Calibri" pitchFamily="34" charset="-120"/>
              </a:rPr>
              <a:t>Never abstains</a:t>
            </a:r>
            <a:endParaRPr lang="en-US" sz="1400" dirty="0"/>
          </a:p>
        </p:txBody>
      </p:sp>
      <p:sp>
        <p:nvSpPr>
          <p:cNvPr id="22" name="Text 20"/>
          <p:cNvSpPr/>
          <p:nvPr/>
        </p:nvSpPr>
        <p:spPr>
          <a:xfrm>
            <a:off x="8366760" y="4133088"/>
            <a:ext cx="2926080" cy="731520"/>
          </a:xfrm>
          <a:prstGeom prst="rect">
            <a:avLst/>
          </a:prstGeom>
          <a:noFill/>
          <a:ln/>
        </p:spPr>
        <p:txBody>
          <a:bodyPr wrap="square" lIns="0" tIns="0" rIns="0" bIns="0" rtlCol="0" anchor="ctr"/>
          <a:lstStyle/>
          <a:p>
            <a:pPr indent="0" marL="0">
              <a:buNone/>
            </a:pPr>
            <a:r>
              <a:rPr lang="en-US" sz="1150" dirty="0">
                <a:solidFill>
                  <a:srgbClr val="9CA3AF"/>
                </a:solidFill>
                <a:latin typeface="Calibri" pitchFamily="34" charset="0"/>
                <a:ea typeface="Calibri" pitchFamily="34" charset="-122"/>
                <a:cs typeface="Calibri" pitchFamily="34" charset="-120"/>
              </a:rPr>
              <a:t>Models almost never say "I don't know" — even when optimal.</a:t>
            </a:r>
            <a:endParaRPr lang="en-US" sz="1150" dirty="0"/>
          </a:p>
        </p:txBody>
      </p:sp>
      <p:sp>
        <p:nvSpPr>
          <p:cNvPr id="23" name="Text 21"/>
          <p:cNvSpPr/>
          <p:nvPr/>
        </p:nvSpPr>
        <p:spPr>
          <a:xfrm>
            <a:off x="640080" y="5257800"/>
            <a:ext cx="10972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Avinash   ·   Atulaya Raj   ·   Mohammad Umam Ali        IIT Guwahati</a:t>
            </a:r>
            <a:endParaRPr lang="en-US" sz="1200" dirty="0"/>
          </a:p>
        </p:txBody>
      </p:sp>
      <p:sp>
        <p:nvSpPr>
          <p:cNvPr id="24" name="Text 22"/>
          <p:cNvSpPr/>
          <p:nvPr/>
        </p:nvSpPr>
        <p:spPr>
          <a:xfrm>
            <a:off x="640080" y="5715000"/>
            <a:ext cx="10972800" cy="365760"/>
          </a:xfrm>
          <a:prstGeom prst="rect">
            <a:avLst/>
          </a:prstGeom>
          <a:noFill/>
          <a:ln/>
        </p:spPr>
        <p:txBody>
          <a:bodyPr wrap="square" lIns="0" tIns="0" rIns="0" bIns="0" rtlCol="0" anchor="ctr"/>
          <a:lstStyle/>
          <a:p>
            <a:pPr indent="0" marL="0">
              <a:buNone/>
            </a:pPr>
            <a:r>
              <a:rPr lang="en-US" sz="1300" i="1" dirty="0">
                <a:solidFill>
                  <a:srgbClr val="8B5CF6"/>
                </a:solidFill>
                <a:latin typeface="Calibri" pitchFamily="34" charset="0"/>
                <a:ea typeface="Calibri" pitchFamily="34" charset="-122"/>
                <a:cs typeface="Calibri" pitchFamily="34" charset="-120"/>
              </a:rPr>
              <a:t>In medicine, law and journalism a fluent hallucination is worse than no answer — because it is trusted.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SOLUTION &amp; INNOVATION</a:t>
            </a:r>
            <a:endParaRPr lang="en-US" sz="11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3000" b="1" dirty="0">
                <a:solidFill>
                  <a:srgbClr val="F4F4F5"/>
                </a:solidFill>
                <a:latin typeface="Calibri" pitchFamily="34" charset="0"/>
                <a:ea typeface="Calibri" pitchFamily="34" charset="-122"/>
                <a:cs typeface="Calibri" pitchFamily="34" charset="-120"/>
              </a:rPr>
              <a:t>We rejected the obvious architecture — with evidence</a:t>
            </a:r>
            <a:endParaRPr lang="en-US" sz="3000" dirty="0"/>
          </a:p>
        </p:txBody>
      </p:sp>
      <p:sp>
        <p:nvSpPr>
          <p:cNvPr id="4" name="Shape 2"/>
          <p:cNvSpPr/>
          <p:nvPr/>
        </p:nvSpPr>
        <p:spPr>
          <a:xfrm>
            <a:off x="548640" y="1371600"/>
            <a:ext cx="5486400" cy="2057400"/>
          </a:xfrm>
          <a:prstGeom prst="roundRect">
            <a:avLst>
              <a:gd name="adj" fmla="val 5333"/>
            </a:avLst>
          </a:prstGeom>
          <a:solidFill>
            <a:srgbClr val="1C1C34"/>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5" name="Shape 3"/>
          <p:cNvSpPr/>
          <p:nvPr/>
        </p:nvSpPr>
        <p:spPr>
          <a:xfrm>
            <a:off x="822960" y="1627632"/>
            <a:ext cx="310896" cy="310896"/>
          </a:xfrm>
          <a:prstGeom prst="ellipse">
            <a:avLst/>
          </a:prstGeom>
          <a:solidFill>
            <a:srgbClr val="FB7185"/>
          </a:solidFill>
          <a:ln w="12700">
            <a:solidFill>
              <a:srgbClr val="FB7185"/>
            </a:solidFill>
            <a:prstDash val="solid"/>
          </a:ln>
        </p:spPr>
      </p:sp>
      <p:sp>
        <p:nvSpPr>
          <p:cNvPr id="6" name="Text 4"/>
          <p:cNvSpPr/>
          <p:nvPr/>
        </p:nvSpPr>
        <p:spPr>
          <a:xfrm>
            <a:off x="822960" y="162763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X</a:t>
            </a:r>
            <a:endParaRPr lang="en-US" sz="1300" dirty="0"/>
          </a:p>
        </p:txBody>
      </p:sp>
      <p:sp>
        <p:nvSpPr>
          <p:cNvPr id="7" name="Text 5"/>
          <p:cNvSpPr/>
          <p:nvPr/>
        </p:nvSpPr>
        <p:spPr>
          <a:xfrm>
            <a:off x="1234440" y="1609344"/>
            <a:ext cx="4572000" cy="292608"/>
          </a:xfrm>
          <a:prstGeom prst="rect">
            <a:avLst/>
          </a:prstGeom>
          <a:noFill/>
          <a:ln/>
        </p:spPr>
        <p:txBody>
          <a:bodyPr wrap="square" lIns="0" tIns="0" rIns="0" bIns="0" rtlCol="0" anchor="ctr"/>
          <a:lstStyle/>
          <a:p>
            <a:pPr indent="0" marL="0">
              <a:buNone/>
            </a:pPr>
            <a:r>
              <a:rPr lang="en-US" sz="1400" b="1" dirty="0">
                <a:solidFill>
                  <a:srgbClr val="FB7185"/>
                </a:solidFill>
                <a:latin typeface="Calibri" pitchFamily="34" charset="0"/>
                <a:ea typeface="Calibri" pitchFamily="34" charset="-122"/>
                <a:cs typeface="Calibri" pitchFamily="34" charset="-120"/>
              </a:rPr>
              <a:t>What everyone else builds: multi-agent debate</a:t>
            </a:r>
            <a:endParaRPr lang="en-US" sz="1400" dirty="0"/>
          </a:p>
        </p:txBody>
      </p:sp>
      <p:sp>
        <p:nvSpPr>
          <p:cNvPr id="8" name="Text 6"/>
          <p:cNvSpPr/>
          <p:nvPr/>
        </p:nvSpPr>
        <p:spPr>
          <a:xfrm>
            <a:off x="868680" y="2057400"/>
            <a:ext cx="4937760" cy="10515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9CA3AF"/>
                </a:solidFill>
                <a:latin typeface="Calibri" pitchFamily="34" charset="0"/>
                <a:ea typeface="Calibri" pitchFamily="34" charset="-122"/>
                <a:cs typeface="Calibri" pitchFamily="34" charset="-120"/>
              </a:rPr>
              <a:t>Debate is a martingale — no expected gain per round</a:t>
            </a:r>
            <a:endParaRPr lang="en-US" sz="1200" dirty="0"/>
          </a:p>
          <a:p>
            <a:pPr marL="342900" indent="-342900">
              <a:spcAft>
                <a:spcPts val="600"/>
              </a:spcAft>
              <a:buSzPct val="100000"/>
              <a:buChar char="•"/>
            </a:pPr>
            <a:r>
              <a:rPr lang="en-US" sz="1200" dirty="0">
                <a:solidFill>
                  <a:srgbClr val="9CA3AF"/>
                </a:solidFill>
                <a:latin typeface="Calibri" pitchFamily="34" charset="0"/>
                <a:ea typeface="Calibri" pitchFamily="34" charset="-122"/>
                <a:cs typeface="Calibri" pitchFamily="34" charset="-120"/>
              </a:rPr>
              <a:t>Weak models correct only 3.6% of stance biases</a:t>
            </a:r>
            <a:endParaRPr lang="en-US" sz="1200" dirty="0"/>
          </a:p>
          <a:p>
            <a:pPr marL="342900" indent="-342900">
              <a:spcAft>
                <a:spcPts val="600"/>
              </a:spcAft>
              <a:buSzPct val="100000"/>
              <a:buChar char="•"/>
            </a:pPr>
            <a:r>
              <a:rPr lang="en-US" sz="1200" dirty="0">
                <a:solidFill>
                  <a:srgbClr val="9CA3AF"/>
                </a:solidFill>
                <a:latin typeface="Calibri" pitchFamily="34" charset="0"/>
                <a:ea typeface="Calibri" pitchFamily="34" charset="-122"/>
                <a:cs typeface="Calibri" pitchFamily="34" charset="-120"/>
              </a:rPr>
              <a:t>Agents conform; correct minorities get averaged away</a:t>
            </a:r>
            <a:endParaRPr lang="en-US" sz="1200" dirty="0"/>
          </a:p>
        </p:txBody>
      </p:sp>
      <p:sp>
        <p:nvSpPr>
          <p:cNvPr id="9" name="Text 7"/>
          <p:cNvSpPr/>
          <p:nvPr/>
        </p:nvSpPr>
        <p:spPr>
          <a:xfrm>
            <a:off x="868680" y="3072384"/>
            <a:ext cx="4937760" cy="256032"/>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Choi et al. 2026 · The Deliberative Illusion</a:t>
            </a:r>
            <a:endParaRPr lang="en-US" sz="1000" dirty="0"/>
          </a:p>
        </p:txBody>
      </p:sp>
      <p:sp>
        <p:nvSpPr>
          <p:cNvPr id="10" name="Shape 8"/>
          <p:cNvSpPr/>
          <p:nvPr/>
        </p:nvSpPr>
        <p:spPr>
          <a:xfrm>
            <a:off x="6309360" y="1371600"/>
            <a:ext cx="5303520" cy="2057400"/>
          </a:xfrm>
          <a:prstGeom prst="roundRect">
            <a:avLst>
              <a:gd name="adj" fmla="val 5333"/>
            </a:avLst>
          </a:prstGeom>
          <a:solidFill>
            <a:srgbClr val="1C1C34"/>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11" name="Shape 9"/>
          <p:cNvSpPr/>
          <p:nvPr/>
        </p:nvSpPr>
        <p:spPr>
          <a:xfrm>
            <a:off x="6583680" y="1627632"/>
            <a:ext cx="310896" cy="310896"/>
          </a:xfrm>
          <a:prstGeom prst="ellipse">
            <a:avLst/>
          </a:prstGeom>
          <a:solidFill>
            <a:srgbClr val="34D399"/>
          </a:solidFill>
          <a:ln w="12700">
            <a:solidFill>
              <a:srgbClr val="34D399"/>
            </a:solidFill>
            <a:prstDash val="solid"/>
          </a:ln>
        </p:spPr>
      </p:sp>
      <p:sp>
        <p:nvSpPr>
          <p:cNvPr id="12" name="Text 10"/>
          <p:cNvSpPr/>
          <p:nvPr/>
        </p:nvSpPr>
        <p:spPr>
          <a:xfrm>
            <a:off x="6583680" y="162763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6995160" y="1609344"/>
            <a:ext cx="4389120" cy="292608"/>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What we built: asymmetric evidence</a:t>
            </a:r>
            <a:endParaRPr lang="en-US" sz="1400" dirty="0"/>
          </a:p>
        </p:txBody>
      </p:sp>
      <p:sp>
        <p:nvSpPr>
          <p:cNvPr id="14" name="Text 12"/>
          <p:cNvSpPr/>
          <p:nvPr/>
        </p:nvSpPr>
        <p:spPr>
          <a:xfrm>
            <a:off x="6629400" y="2057400"/>
            <a:ext cx="4754880" cy="10515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9CA3AF"/>
                </a:solidFill>
                <a:latin typeface="Calibri" pitchFamily="34" charset="0"/>
                <a:ea typeface="Calibri" pitchFamily="34" charset="-122"/>
                <a:cs typeface="Calibri" pitchFamily="34" charset="-120"/>
              </a:rPr>
              <a:t>Advocate and Sceptic get DISJOINT evidence sets</a:t>
            </a:r>
            <a:endParaRPr lang="en-US" sz="1200" dirty="0"/>
          </a:p>
          <a:p>
            <a:pPr marL="342900" indent="-342900">
              <a:spcAft>
                <a:spcPts val="600"/>
              </a:spcAft>
              <a:buSzPct val="100000"/>
              <a:buChar char="•"/>
            </a:pPr>
            <a:r>
              <a:rPr lang="en-US" sz="1200" dirty="0">
                <a:solidFill>
                  <a:srgbClr val="9CA3AF"/>
                </a:solidFill>
                <a:latin typeface="Calibri" pitchFamily="34" charset="0"/>
                <a:ea typeface="Calibri" pitchFamily="34" charset="-122"/>
                <a:cs typeface="Calibri" pitchFamily="34" charset="-120"/>
              </a:rPr>
              <a:t>Disagreement now carries information, not personality</a:t>
            </a:r>
            <a:endParaRPr lang="en-US" sz="1200" dirty="0"/>
          </a:p>
          <a:p>
            <a:pPr marL="342900" indent="-342900">
              <a:spcAft>
                <a:spcPts val="600"/>
              </a:spcAft>
              <a:buSzPct val="100000"/>
              <a:buChar char="•"/>
            </a:pPr>
            <a:r>
              <a:rPr lang="en-US" sz="1200" dirty="0">
                <a:solidFill>
                  <a:srgbClr val="9CA3AF"/>
                </a:solidFill>
                <a:latin typeface="Calibri" pitchFamily="34" charset="0"/>
                <a:ea typeface="Calibri" pitchFamily="34" charset="-122"/>
                <a:cs typeface="Calibri" pitchFamily="34" charset="-120"/>
              </a:rPr>
              <a:t>Aggregation is statistical, not a consensus vote</a:t>
            </a:r>
            <a:endParaRPr lang="en-US" sz="1200" dirty="0"/>
          </a:p>
        </p:txBody>
      </p:sp>
      <p:sp>
        <p:nvSpPr>
          <p:cNvPr id="15" name="Text 13"/>
          <p:cNvSpPr/>
          <p:nvPr/>
        </p:nvSpPr>
        <p:spPr>
          <a:xfrm>
            <a:off x="6629400" y="3072384"/>
            <a:ext cx="4754880" cy="256032"/>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Deliberation pays only under information asymmetry</a:t>
            </a:r>
            <a:endParaRPr lang="en-US" sz="1000" dirty="0"/>
          </a:p>
        </p:txBody>
      </p:sp>
      <p:sp>
        <p:nvSpPr>
          <p:cNvPr id="16" name="Shape 14"/>
          <p:cNvSpPr/>
          <p:nvPr/>
        </p:nvSpPr>
        <p:spPr>
          <a:xfrm>
            <a:off x="548640" y="3657600"/>
            <a:ext cx="2642616" cy="1371600"/>
          </a:xfrm>
          <a:prstGeom prst="roundRect">
            <a:avLst>
              <a:gd name="adj" fmla="val 8000"/>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17" name="Shape 15"/>
          <p:cNvSpPr/>
          <p:nvPr/>
        </p:nvSpPr>
        <p:spPr>
          <a:xfrm>
            <a:off x="749808" y="3840480"/>
            <a:ext cx="310896" cy="310896"/>
          </a:xfrm>
          <a:prstGeom prst="ellipse">
            <a:avLst/>
          </a:prstGeom>
          <a:solidFill>
            <a:srgbClr val="8B5CF6"/>
          </a:solidFill>
          <a:ln w="12700">
            <a:solidFill>
              <a:srgbClr val="8B5CF6"/>
            </a:solidFill>
            <a:prstDash val="solid"/>
          </a:ln>
        </p:spPr>
      </p:sp>
      <p:sp>
        <p:nvSpPr>
          <p:cNvPr id="18" name="Text 16"/>
          <p:cNvSpPr/>
          <p:nvPr/>
        </p:nvSpPr>
        <p:spPr>
          <a:xfrm>
            <a:off x="749808" y="3840480"/>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1</a:t>
            </a:r>
            <a:endParaRPr lang="en-US" sz="1300" dirty="0"/>
          </a:p>
        </p:txBody>
      </p:sp>
      <p:sp>
        <p:nvSpPr>
          <p:cNvPr id="19" name="Text 17"/>
          <p:cNvSpPr/>
          <p:nvPr/>
        </p:nvSpPr>
        <p:spPr>
          <a:xfrm>
            <a:off x="749808" y="4224528"/>
            <a:ext cx="2286000" cy="274320"/>
          </a:xfrm>
          <a:prstGeom prst="rect">
            <a:avLst/>
          </a:prstGeom>
          <a:noFill/>
          <a:ln/>
        </p:spPr>
        <p:txBody>
          <a:bodyPr wrap="square" lIns="0" tIns="0" rIns="0" bIns="0" rtlCol="0" anchor="ctr"/>
          <a:lstStyle/>
          <a:p>
            <a:pPr indent="0" marL="0">
              <a:buNone/>
            </a:pPr>
            <a:r>
              <a:rPr lang="en-US" sz="1250" b="1" dirty="0">
                <a:solidFill>
                  <a:srgbClr val="F4F4F5"/>
                </a:solidFill>
                <a:latin typeface="Calibri" pitchFamily="34" charset="0"/>
                <a:ea typeface="Calibri" pitchFamily="34" charset="-122"/>
                <a:cs typeface="Calibri" pitchFamily="34" charset="-120"/>
              </a:rPr>
              <a:t>Independence clustering</a:t>
            </a:r>
            <a:endParaRPr lang="en-US" sz="1250" dirty="0"/>
          </a:p>
        </p:txBody>
      </p:sp>
      <p:sp>
        <p:nvSpPr>
          <p:cNvPr id="20" name="Text 18"/>
          <p:cNvSpPr/>
          <p:nvPr/>
        </p:nvSpPr>
        <p:spPr>
          <a:xfrm>
            <a:off x="749808" y="4517136"/>
            <a:ext cx="2286000" cy="45720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10 outlets copying 1 wire story = 1 source</a:t>
            </a:r>
            <a:endParaRPr lang="en-US" sz="1050" dirty="0"/>
          </a:p>
        </p:txBody>
      </p:sp>
      <p:sp>
        <p:nvSpPr>
          <p:cNvPr id="21" name="Shape 19"/>
          <p:cNvSpPr/>
          <p:nvPr/>
        </p:nvSpPr>
        <p:spPr>
          <a:xfrm>
            <a:off x="3374136" y="3657600"/>
            <a:ext cx="2642616" cy="1371600"/>
          </a:xfrm>
          <a:prstGeom prst="roundRect">
            <a:avLst>
              <a:gd name="adj" fmla="val 8000"/>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22" name="Shape 20"/>
          <p:cNvSpPr/>
          <p:nvPr/>
        </p:nvSpPr>
        <p:spPr>
          <a:xfrm>
            <a:off x="3575304" y="3840480"/>
            <a:ext cx="310896" cy="310896"/>
          </a:xfrm>
          <a:prstGeom prst="ellipse">
            <a:avLst/>
          </a:prstGeom>
          <a:solidFill>
            <a:srgbClr val="22D3EE"/>
          </a:solidFill>
          <a:ln w="12700">
            <a:solidFill>
              <a:srgbClr val="22D3EE"/>
            </a:solidFill>
            <a:prstDash val="solid"/>
          </a:ln>
        </p:spPr>
      </p:sp>
      <p:sp>
        <p:nvSpPr>
          <p:cNvPr id="23" name="Text 21"/>
          <p:cNvSpPr/>
          <p:nvPr/>
        </p:nvSpPr>
        <p:spPr>
          <a:xfrm>
            <a:off x="3575304" y="3840480"/>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2</a:t>
            </a:r>
            <a:endParaRPr lang="en-US" sz="1300" dirty="0"/>
          </a:p>
        </p:txBody>
      </p:sp>
      <p:sp>
        <p:nvSpPr>
          <p:cNvPr id="24" name="Text 22"/>
          <p:cNvSpPr/>
          <p:nvPr/>
        </p:nvSpPr>
        <p:spPr>
          <a:xfrm>
            <a:off x="3575304" y="4224528"/>
            <a:ext cx="2286000" cy="274320"/>
          </a:xfrm>
          <a:prstGeom prst="rect">
            <a:avLst/>
          </a:prstGeom>
          <a:noFill/>
          <a:ln/>
        </p:spPr>
        <p:txBody>
          <a:bodyPr wrap="square" lIns="0" tIns="0" rIns="0" bIns="0" rtlCol="0" anchor="ctr"/>
          <a:lstStyle/>
          <a:p>
            <a:pPr indent="0" marL="0">
              <a:buNone/>
            </a:pPr>
            <a:r>
              <a:rPr lang="en-US" sz="1250" b="1" dirty="0">
                <a:solidFill>
                  <a:srgbClr val="F4F4F5"/>
                </a:solidFill>
                <a:latin typeface="Calibri" pitchFamily="34" charset="0"/>
                <a:ea typeface="Calibri" pitchFamily="34" charset="-122"/>
                <a:cs typeface="Calibri" pitchFamily="34" charset="-120"/>
              </a:rPr>
              <a:t>Independence ceiling</a:t>
            </a:r>
            <a:endParaRPr lang="en-US" sz="1250" dirty="0"/>
          </a:p>
        </p:txBody>
      </p:sp>
      <p:sp>
        <p:nvSpPr>
          <p:cNvPr id="25" name="Text 23"/>
          <p:cNvSpPr/>
          <p:nvPr/>
        </p:nvSpPr>
        <p:spPr>
          <a:xfrm>
            <a:off x="3575304" y="4517136"/>
            <a:ext cx="2286000" cy="45720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One source can never license &gt;0.70 confidence</a:t>
            </a:r>
            <a:endParaRPr lang="en-US" sz="1050" dirty="0"/>
          </a:p>
        </p:txBody>
      </p:sp>
      <p:sp>
        <p:nvSpPr>
          <p:cNvPr id="26" name="Shape 24"/>
          <p:cNvSpPr/>
          <p:nvPr/>
        </p:nvSpPr>
        <p:spPr>
          <a:xfrm>
            <a:off x="6199632" y="3657600"/>
            <a:ext cx="2642616" cy="1371600"/>
          </a:xfrm>
          <a:prstGeom prst="roundRect">
            <a:avLst>
              <a:gd name="adj" fmla="val 8000"/>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27" name="Shape 25"/>
          <p:cNvSpPr/>
          <p:nvPr/>
        </p:nvSpPr>
        <p:spPr>
          <a:xfrm>
            <a:off x="6400800" y="3840480"/>
            <a:ext cx="310896" cy="310896"/>
          </a:xfrm>
          <a:prstGeom prst="ellipse">
            <a:avLst/>
          </a:prstGeom>
          <a:solidFill>
            <a:srgbClr val="34D399"/>
          </a:solidFill>
          <a:ln w="12700">
            <a:solidFill>
              <a:srgbClr val="34D399"/>
            </a:solidFill>
            <a:prstDash val="solid"/>
          </a:ln>
        </p:spPr>
      </p:sp>
      <p:sp>
        <p:nvSpPr>
          <p:cNvPr id="28" name="Text 26"/>
          <p:cNvSpPr/>
          <p:nvPr/>
        </p:nvSpPr>
        <p:spPr>
          <a:xfrm>
            <a:off x="6400800" y="3840480"/>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3</a:t>
            </a:r>
            <a:endParaRPr lang="en-US" sz="1300" dirty="0"/>
          </a:p>
        </p:txBody>
      </p:sp>
      <p:sp>
        <p:nvSpPr>
          <p:cNvPr id="29" name="Text 27"/>
          <p:cNvSpPr/>
          <p:nvPr/>
        </p:nvSpPr>
        <p:spPr>
          <a:xfrm>
            <a:off x="6400800" y="4224528"/>
            <a:ext cx="2286000" cy="274320"/>
          </a:xfrm>
          <a:prstGeom prst="rect">
            <a:avLst/>
          </a:prstGeom>
          <a:noFill/>
          <a:ln/>
        </p:spPr>
        <p:txBody>
          <a:bodyPr wrap="square" lIns="0" tIns="0" rIns="0" bIns="0" rtlCol="0" anchor="ctr"/>
          <a:lstStyle/>
          <a:p>
            <a:pPr indent="0" marL="0">
              <a:buNone/>
            </a:pPr>
            <a:r>
              <a:rPr lang="en-US" sz="1250" b="1" dirty="0">
                <a:solidFill>
                  <a:srgbClr val="F4F4F5"/>
                </a:solidFill>
                <a:latin typeface="Calibri" pitchFamily="34" charset="0"/>
                <a:ea typeface="Calibri" pitchFamily="34" charset="-122"/>
                <a:cs typeface="Calibri" pitchFamily="34" charset="-120"/>
              </a:rPr>
              <a:t>Calibrated confidence</a:t>
            </a:r>
            <a:endParaRPr lang="en-US" sz="1250" dirty="0"/>
          </a:p>
        </p:txBody>
      </p:sp>
      <p:sp>
        <p:nvSpPr>
          <p:cNvPr id="30" name="Text 28"/>
          <p:cNvSpPr/>
          <p:nvPr/>
        </p:nvSpPr>
        <p:spPr>
          <a:xfrm>
            <a:off x="6400800" y="4517136"/>
            <a:ext cx="2286000" cy="45720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7 orthogonal features, isotonic-fitted</a:t>
            </a:r>
            <a:endParaRPr lang="en-US" sz="1050" dirty="0"/>
          </a:p>
        </p:txBody>
      </p:sp>
      <p:sp>
        <p:nvSpPr>
          <p:cNvPr id="31" name="Shape 29"/>
          <p:cNvSpPr/>
          <p:nvPr/>
        </p:nvSpPr>
        <p:spPr>
          <a:xfrm>
            <a:off x="9025128" y="3657600"/>
            <a:ext cx="2642616" cy="1371600"/>
          </a:xfrm>
          <a:prstGeom prst="roundRect">
            <a:avLst>
              <a:gd name="adj" fmla="val 8000"/>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32" name="Shape 30"/>
          <p:cNvSpPr/>
          <p:nvPr/>
        </p:nvSpPr>
        <p:spPr>
          <a:xfrm>
            <a:off x="9226296" y="3840480"/>
            <a:ext cx="310896" cy="310896"/>
          </a:xfrm>
          <a:prstGeom prst="ellipse">
            <a:avLst/>
          </a:prstGeom>
          <a:solidFill>
            <a:srgbClr val="FBBF24"/>
          </a:solidFill>
          <a:ln w="12700">
            <a:solidFill>
              <a:srgbClr val="FBBF24"/>
            </a:solidFill>
            <a:prstDash val="solid"/>
          </a:ln>
        </p:spPr>
      </p:sp>
      <p:sp>
        <p:nvSpPr>
          <p:cNvPr id="33" name="Text 31"/>
          <p:cNvSpPr/>
          <p:nvPr/>
        </p:nvSpPr>
        <p:spPr>
          <a:xfrm>
            <a:off x="9226296" y="3840480"/>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4</a:t>
            </a:r>
            <a:endParaRPr lang="en-US" sz="1300" dirty="0"/>
          </a:p>
        </p:txBody>
      </p:sp>
      <p:sp>
        <p:nvSpPr>
          <p:cNvPr id="34" name="Text 32"/>
          <p:cNvSpPr/>
          <p:nvPr/>
        </p:nvSpPr>
        <p:spPr>
          <a:xfrm>
            <a:off x="9226296" y="4224528"/>
            <a:ext cx="2286000" cy="274320"/>
          </a:xfrm>
          <a:prstGeom prst="rect">
            <a:avLst/>
          </a:prstGeom>
          <a:noFill/>
          <a:ln/>
        </p:spPr>
        <p:txBody>
          <a:bodyPr wrap="square" lIns="0" tIns="0" rIns="0" bIns="0" rtlCol="0" anchor="ctr"/>
          <a:lstStyle/>
          <a:p>
            <a:pPr indent="0" marL="0">
              <a:buNone/>
            </a:pPr>
            <a:r>
              <a:rPr lang="en-US" sz="1250" b="1" dirty="0">
                <a:solidFill>
                  <a:srgbClr val="F4F4F5"/>
                </a:solidFill>
                <a:latin typeface="Calibri" pitchFamily="34" charset="0"/>
                <a:ea typeface="Calibri" pitchFamily="34" charset="-122"/>
                <a:cs typeface="Calibri" pitchFamily="34" charset="-120"/>
              </a:rPr>
              <a:t>Abstention as a verdict</a:t>
            </a:r>
            <a:endParaRPr lang="en-US" sz="1250" dirty="0"/>
          </a:p>
        </p:txBody>
      </p:sp>
      <p:sp>
        <p:nvSpPr>
          <p:cNvPr id="35" name="Text 33"/>
          <p:cNvSpPr/>
          <p:nvPr/>
        </p:nvSpPr>
        <p:spPr>
          <a:xfrm>
            <a:off x="9226296" y="4517136"/>
            <a:ext cx="2286000" cy="45720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"Not established" is a first-class answer</a:t>
            </a:r>
            <a:endParaRPr lang="en-US" sz="1050" dirty="0"/>
          </a:p>
        </p:txBody>
      </p:sp>
      <p:sp>
        <p:nvSpPr>
          <p:cNvPr id="36" name="Text 34"/>
          <p:cNvSpPr/>
          <p:nvPr/>
        </p:nvSpPr>
        <p:spPr>
          <a:xfrm>
            <a:off x="548640" y="5257800"/>
            <a:ext cx="5486400" cy="27432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Versus ChatGPT · Perplexity · Gemini Deep Research</a:t>
            </a:r>
            <a:endParaRPr lang="en-US" sz="1200" dirty="0"/>
          </a:p>
        </p:txBody>
      </p:sp>
      <p:sp>
        <p:nvSpPr>
          <p:cNvPr id="37" name="Text 35"/>
          <p:cNvSpPr/>
          <p:nvPr/>
        </p:nvSpPr>
        <p:spPr>
          <a:xfrm>
            <a:off x="548640" y="5559552"/>
            <a:ext cx="11064240" cy="502920"/>
          </a:xfrm>
          <a:prstGeom prst="rect">
            <a:avLst/>
          </a:prstGeom>
          <a:noFill/>
          <a:ln/>
        </p:spPr>
        <p:txBody>
          <a:bodyPr wrap="square" lIns="0" tIns="0" rIns="0" bIns="0" rtlCol="0" anchor="ctr"/>
          <a:lstStyle/>
          <a:p>
            <a:pPr indent="0" marL="0">
              <a:buNone/>
            </a:pPr>
            <a:r>
              <a:rPr lang="en-US" sz="1250" dirty="0">
                <a:solidFill>
                  <a:srgbClr val="9CA3AF"/>
                </a:solidFill>
                <a:latin typeface="Calibri" pitchFamily="34" charset="0"/>
                <a:ea typeface="Calibri" pitchFamily="34" charset="-122"/>
                <a:cs typeface="Calibri" pitchFamily="34" charset="-120"/>
              </a:rPr>
              <a:t>They cite sources. None of them measure source independence, none abstain, and none publish a calibrated confidence you can audit.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MULTI-AGENT ARCHITECTURE</a:t>
            </a:r>
            <a:endParaRPr lang="en-US" sz="11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3000" b="1" dirty="0">
                <a:solidFill>
                  <a:srgbClr val="F4F4F5"/>
                </a:solidFill>
                <a:latin typeface="Calibri" pitchFamily="34" charset="0"/>
                <a:ea typeface="Calibri" pitchFamily="34" charset="-122"/>
                <a:cs typeface="Calibri" pitchFamily="34" charset="-120"/>
              </a:rPr>
              <a:t>13 specialised agents on a LangGraph state machine</a:t>
            </a:r>
            <a:endParaRPr lang="en-US" sz="3000" dirty="0"/>
          </a:p>
        </p:txBody>
      </p:sp>
      <p:sp>
        <p:nvSpPr>
          <p:cNvPr id="4" name="Shape 2"/>
          <p:cNvSpPr/>
          <p:nvPr/>
        </p:nvSpPr>
        <p:spPr>
          <a:xfrm>
            <a:off x="548640" y="1325880"/>
            <a:ext cx="2377440" cy="1371600"/>
          </a:xfrm>
          <a:prstGeom prst="roundRect">
            <a:avLst>
              <a:gd name="adj" fmla="val 6667"/>
            </a:avLst>
          </a:prstGeom>
          <a:solidFill>
            <a:srgbClr val="16162B"/>
          </a:solidFill>
          <a:ln w="15875">
            <a:solidFill>
              <a:srgbClr val="8B5CF6"/>
            </a:solidFill>
            <a:prstDash val="solid"/>
          </a:ln>
          <a:effectLst>
            <a:outerShdw sx="100000" sy="100000" kx="0" ky="0" algn="bl" rotWithShape="0" blurRad="228600" dist="38100" dir="5400000">
              <a:srgbClr val="000000">
                <a:alpha val="45000"/>
              </a:srgbClr>
            </a:outerShdw>
          </a:effectLst>
        </p:spPr>
      </p:sp>
      <p:sp>
        <p:nvSpPr>
          <p:cNvPr id="5" name="Text 3"/>
          <p:cNvSpPr/>
          <p:nvPr/>
        </p:nvSpPr>
        <p:spPr>
          <a:xfrm>
            <a:off x="548640" y="1380744"/>
            <a:ext cx="2377440" cy="274320"/>
          </a:xfrm>
          <a:prstGeom prst="rect">
            <a:avLst/>
          </a:prstGeom>
          <a:noFill/>
          <a:ln/>
        </p:spPr>
        <p:txBody>
          <a:bodyPr wrap="square" lIns="0" tIns="0" rIns="0" bIns="0" rtlCol="0" anchor="ctr"/>
          <a:lstStyle/>
          <a:p>
            <a:pPr algn="ctr" indent="0" marL="0">
              <a:buNone/>
            </a:pPr>
            <a:r>
              <a:rPr lang="en-US" sz="1050" b="1" dirty="0">
                <a:solidFill>
                  <a:srgbClr val="8B5CF6"/>
                </a:solidFill>
                <a:latin typeface="Calibri" pitchFamily="34" charset="0"/>
                <a:ea typeface="Calibri" pitchFamily="34" charset="-122"/>
                <a:cs typeface="Calibri" pitchFamily="34" charset="-120"/>
              </a:rPr>
              <a:t>ORCHESTRATION</a:t>
            </a:r>
            <a:endParaRPr lang="en-US" sz="1050" dirty="0"/>
          </a:p>
        </p:txBody>
      </p:sp>
      <p:sp>
        <p:nvSpPr>
          <p:cNvPr id="6" name="Shape 4"/>
          <p:cNvSpPr/>
          <p:nvPr/>
        </p:nvSpPr>
        <p:spPr>
          <a:xfrm>
            <a:off x="713232" y="1691640"/>
            <a:ext cx="2048256" cy="384048"/>
          </a:xfrm>
          <a:prstGeom prst="roundRect">
            <a:avLst>
              <a:gd name="adj" fmla="val 16667"/>
            </a:avLst>
          </a:prstGeom>
          <a:solidFill>
            <a:srgbClr val="1C1C34"/>
          </a:solidFill>
          <a:ln w="9525">
            <a:solidFill>
              <a:srgbClr val="34345A"/>
            </a:solidFill>
            <a:prstDash val="solid"/>
          </a:ln>
        </p:spPr>
      </p:sp>
      <p:sp>
        <p:nvSpPr>
          <p:cNvPr id="7" name="Text 5"/>
          <p:cNvSpPr/>
          <p:nvPr/>
        </p:nvSpPr>
        <p:spPr>
          <a:xfrm>
            <a:off x="713232" y="1691640"/>
            <a:ext cx="2048256" cy="384048"/>
          </a:xfrm>
          <a:prstGeom prst="rect">
            <a:avLst/>
          </a:prstGeom>
          <a:noFill/>
          <a:ln/>
        </p:spPr>
        <p:txBody>
          <a:bodyPr wrap="square" lIns="0" tIns="0" rIns="0" bIns="0" rtlCol="0" anchor="ctr"/>
          <a:lstStyle/>
          <a:p>
            <a:pPr algn="ctr" indent="0" marL="0">
              <a:buNone/>
            </a:pPr>
            <a:r>
              <a:rPr lang="en-US" sz="950" dirty="0">
                <a:solidFill>
                  <a:srgbClr val="8B5CF6"/>
                </a:solidFill>
                <a:latin typeface="Calibri" pitchFamily="34" charset="0"/>
                <a:ea typeface="Calibri" pitchFamily="34" charset="-122"/>
                <a:cs typeface="Calibri" pitchFamily="34" charset="-120"/>
              </a:rPr>
              <a:t>Planner Agent</a:t>
            </a:r>
            <a:endParaRPr lang="en-US" sz="950" dirty="0"/>
          </a:p>
        </p:txBody>
      </p:sp>
      <p:sp>
        <p:nvSpPr>
          <p:cNvPr id="8" name="Shape 6"/>
          <p:cNvSpPr/>
          <p:nvPr/>
        </p:nvSpPr>
        <p:spPr>
          <a:xfrm>
            <a:off x="713232" y="2157984"/>
            <a:ext cx="2048256" cy="384048"/>
          </a:xfrm>
          <a:prstGeom prst="roundRect">
            <a:avLst>
              <a:gd name="adj" fmla="val 16667"/>
            </a:avLst>
          </a:prstGeom>
          <a:solidFill>
            <a:srgbClr val="1C1C34"/>
          </a:solidFill>
          <a:ln w="9525">
            <a:solidFill>
              <a:srgbClr val="34345A"/>
            </a:solidFill>
            <a:prstDash val="solid"/>
          </a:ln>
        </p:spPr>
      </p:sp>
      <p:sp>
        <p:nvSpPr>
          <p:cNvPr id="9" name="Text 7"/>
          <p:cNvSpPr/>
          <p:nvPr/>
        </p:nvSpPr>
        <p:spPr>
          <a:xfrm>
            <a:off x="713232" y="2157984"/>
            <a:ext cx="2048256" cy="384048"/>
          </a:xfrm>
          <a:prstGeom prst="rect">
            <a:avLst/>
          </a:prstGeom>
          <a:noFill/>
          <a:ln/>
        </p:spPr>
        <p:txBody>
          <a:bodyPr wrap="square" lIns="0" tIns="0" rIns="0" bIns="0" rtlCol="0" anchor="ctr"/>
          <a:lstStyle/>
          <a:p>
            <a:pPr algn="ctr" indent="0" marL="0">
              <a:buNone/>
            </a:pPr>
            <a:r>
              <a:rPr lang="en-US" sz="950" dirty="0">
                <a:solidFill>
                  <a:srgbClr val="F4F4F5"/>
                </a:solidFill>
                <a:latin typeface="Calibri" pitchFamily="34" charset="0"/>
                <a:ea typeface="Calibri" pitchFamily="34" charset="-122"/>
                <a:cs typeface="Calibri" pitchFamily="34" charset="-120"/>
              </a:rPr>
              <a:t>Budget + Retry Guard</a:t>
            </a:r>
            <a:endParaRPr lang="en-US" sz="950" dirty="0"/>
          </a:p>
        </p:txBody>
      </p:sp>
      <p:sp>
        <p:nvSpPr>
          <p:cNvPr id="10" name="Shape 8"/>
          <p:cNvSpPr/>
          <p:nvPr/>
        </p:nvSpPr>
        <p:spPr>
          <a:xfrm>
            <a:off x="3154680" y="1325880"/>
            <a:ext cx="3931920" cy="1371600"/>
          </a:xfrm>
          <a:prstGeom prst="roundRect">
            <a:avLst>
              <a:gd name="adj" fmla="val 6667"/>
            </a:avLst>
          </a:prstGeom>
          <a:solidFill>
            <a:srgbClr val="16162B"/>
          </a:solidFill>
          <a:ln w="15875">
            <a:solidFill>
              <a:srgbClr val="22D3EE"/>
            </a:solidFill>
            <a:prstDash val="solid"/>
          </a:ln>
          <a:effectLst>
            <a:outerShdw sx="100000" sy="100000" kx="0" ky="0" algn="bl" rotWithShape="0" blurRad="228600" dist="38100" dir="5400000">
              <a:srgbClr val="000000">
                <a:alpha val="45000"/>
              </a:srgbClr>
            </a:outerShdw>
          </a:effectLst>
        </p:spPr>
      </p:sp>
      <p:sp>
        <p:nvSpPr>
          <p:cNvPr id="11" name="Text 9"/>
          <p:cNvSpPr/>
          <p:nvPr/>
        </p:nvSpPr>
        <p:spPr>
          <a:xfrm>
            <a:off x="3154680" y="1380744"/>
            <a:ext cx="3931920" cy="274320"/>
          </a:xfrm>
          <a:prstGeom prst="rect">
            <a:avLst/>
          </a:prstGeom>
          <a:noFill/>
          <a:ln/>
        </p:spPr>
        <p:txBody>
          <a:bodyPr wrap="square" lIns="0" tIns="0" rIns="0" bIns="0" rtlCol="0" anchor="ctr"/>
          <a:lstStyle/>
          <a:p>
            <a:pPr algn="ctr" indent="0" marL="0">
              <a:buNone/>
            </a:pPr>
            <a:r>
              <a:rPr lang="en-US" sz="1050" b="1" dirty="0">
                <a:solidFill>
                  <a:srgbClr val="22D3EE"/>
                </a:solidFill>
                <a:latin typeface="Calibri" pitchFamily="34" charset="0"/>
                <a:ea typeface="Calibri" pitchFamily="34" charset="-122"/>
                <a:cs typeface="Calibri" pitchFamily="34" charset="-120"/>
              </a:rPr>
              <a:t>PARALLEL RESEARCH  (Send fan-out)</a:t>
            </a:r>
            <a:endParaRPr lang="en-US" sz="1050" dirty="0"/>
          </a:p>
        </p:txBody>
      </p:sp>
      <p:sp>
        <p:nvSpPr>
          <p:cNvPr id="12" name="Shape 10"/>
          <p:cNvSpPr/>
          <p:nvPr/>
        </p:nvSpPr>
        <p:spPr>
          <a:xfrm>
            <a:off x="3310128" y="1691640"/>
            <a:ext cx="1170432" cy="384048"/>
          </a:xfrm>
          <a:prstGeom prst="roundRect">
            <a:avLst>
              <a:gd name="adj" fmla="val 16667"/>
            </a:avLst>
          </a:prstGeom>
          <a:solidFill>
            <a:srgbClr val="1C1C34"/>
          </a:solidFill>
          <a:ln w="9525">
            <a:solidFill>
              <a:srgbClr val="34345A"/>
            </a:solidFill>
            <a:prstDash val="solid"/>
          </a:ln>
        </p:spPr>
      </p:sp>
      <p:sp>
        <p:nvSpPr>
          <p:cNvPr id="13" name="Text 11"/>
          <p:cNvSpPr/>
          <p:nvPr/>
        </p:nvSpPr>
        <p:spPr>
          <a:xfrm>
            <a:off x="3310128" y="1691640"/>
            <a:ext cx="1170432" cy="384048"/>
          </a:xfrm>
          <a:prstGeom prst="rect">
            <a:avLst/>
          </a:prstGeom>
          <a:noFill/>
          <a:ln/>
        </p:spPr>
        <p:txBody>
          <a:bodyPr wrap="square" lIns="0" tIns="0" rIns="0" bIns="0" rtlCol="0" anchor="ctr"/>
          <a:lstStyle/>
          <a:p>
            <a:pPr algn="ctr" indent="0" marL="0">
              <a:buNone/>
            </a:pPr>
            <a:r>
              <a:rPr lang="en-US" sz="950" dirty="0">
                <a:solidFill>
                  <a:srgbClr val="22D3EE"/>
                </a:solidFill>
                <a:latin typeface="Calibri" pitchFamily="34" charset="0"/>
                <a:ea typeface="Calibri" pitchFamily="34" charset="-122"/>
                <a:cs typeface="Calibri" pitchFamily="34" charset="-120"/>
              </a:rPr>
              <a:t>Web Search</a:t>
            </a:r>
            <a:endParaRPr lang="en-US" sz="950" dirty="0"/>
          </a:p>
        </p:txBody>
      </p:sp>
      <p:sp>
        <p:nvSpPr>
          <p:cNvPr id="14" name="Shape 12"/>
          <p:cNvSpPr/>
          <p:nvPr/>
        </p:nvSpPr>
        <p:spPr>
          <a:xfrm>
            <a:off x="4590288" y="1691640"/>
            <a:ext cx="1170432" cy="384048"/>
          </a:xfrm>
          <a:prstGeom prst="roundRect">
            <a:avLst>
              <a:gd name="adj" fmla="val 16667"/>
            </a:avLst>
          </a:prstGeom>
          <a:solidFill>
            <a:srgbClr val="1C1C34"/>
          </a:solidFill>
          <a:ln w="9525">
            <a:solidFill>
              <a:srgbClr val="34345A"/>
            </a:solidFill>
            <a:prstDash val="solid"/>
          </a:ln>
        </p:spPr>
      </p:sp>
      <p:sp>
        <p:nvSpPr>
          <p:cNvPr id="15" name="Text 13"/>
          <p:cNvSpPr/>
          <p:nvPr/>
        </p:nvSpPr>
        <p:spPr>
          <a:xfrm>
            <a:off x="4590288" y="1691640"/>
            <a:ext cx="1170432" cy="384048"/>
          </a:xfrm>
          <a:prstGeom prst="rect">
            <a:avLst/>
          </a:prstGeom>
          <a:noFill/>
          <a:ln/>
        </p:spPr>
        <p:txBody>
          <a:bodyPr wrap="square" lIns="0" tIns="0" rIns="0" bIns="0" rtlCol="0" anchor="ctr"/>
          <a:lstStyle/>
          <a:p>
            <a:pPr algn="ctr" indent="0" marL="0">
              <a:buNone/>
            </a:pPr>
            <a:r>
              <a:rPr lang="en-US" sz="950" dirty="0">
                <a:solidFill>
                  <a:srgbClr val="22D3EE"/>
                </a:solidFill>
                <a:latin typeface="Calibri" pitchFamily="34" charset="0"/>
                <a:ea typeface="Calibri" pitchFamily="34" charset="-122"/>
                <a:cs typeface="Calibri" pitchFamily="34" charset="-120"/>
              </a:rPr>
              <a:t>Academic</a:t>
            </a:r>
            <a:endParaRPr lang="en-US" sz="950" dirty="0"/>
          </a:p>
        </p:txBody>
      </p:sp>
      <p:sp>
        <p:nvSpPr>
          <p:cNvPr id="16" name="Shape 14"/>
          <p:cNvSpPr/>
          <p:nvPr/>
        </p:nvSpPr>
        <p:spPr>
          <a:xfrm>
            <a:off x="5870448" y="1691640"/>
            <a:ext cx="1060704" cy="384048"/>
          </a:xfrm>
          <a:prstGeom prst="roundRect">
            <a:avLst>
              <a:gd name="adj" fmla="val 16667"/>
            </a:avLst>
          </a:prstGeom>
          <a:solidFill>
            <a:srgbClr val="1C1C34"/>
          </a:solidFill>
          <a:ln w="9525">
            <a:solidFill>
              <a:srgbClr val="34345A"/>
            </a:solidFill>
            <a:prstDash val="solid"/>
          </a:ln>
        </p:spPr>
      </p:sp>
      <p:sp>
        <p:nvSpPr>
          <p:cNvPr id="17" name="Text 15"/>
          <p:cNvSpPr/>
          <p:nvPr/>
        </p:nvSpPr>
        <p:spPr>
          <a:xfrm>
            <a:off x="5870448" y="1691640"/>
            <a:ext cx="1060704" cy="384048"/>
          </a:xfrm>
          <a:prstGeom prst="rect">
            <a:avLst/>
          </a:prstGeom>
          <a:noFill/>
          <a:ln/>
        </p:spPr>
        <p:txBody>
          <a:bodyPr wrap="square" lIns="0" tIns="0" rIns="0" bIns="0" rtlCol="0" anchor="ctr"/>
          <a:lstStyle/>
          <a:p>
            <a:pPr algn="ctr" indent="0" marL="0">
              <a:buNone/>
            </a:pPr>
            <a:r>
              <a:rPr lang="en-US" sz="950" dirty="0">
                <a:solidFill>
                  <a:srgbClr val="22D3EE"/>
                </a:solidFill>
                <a:latin typeface="Calibri" pitchFamily="34" charset="0"/>
                <a:ea typeface="Calibri" pitchFamily="34" charset="-122"/>
                <a:cs typeface="Calibri" pitchFamily="34" charset="-120"/>
              </a:rPr>
              <a:t>Code/Repo</a:t>
            </a:r>
            <a:endParaRPr lang="en-US" sz="950" dirty="0"/>
          </a:p>
        </p:txBody>
      </p:sp>
      <p:sp>
        <p:nvSpPr>
          <p:cNvPr id="18" name="Shape 16"/>
          <p:cNvSpPr/>
          <p:nvPr/>
        </p:nvSpPr>
        <p:spPr>
          <a:xfrm>
            <a:off x="3310128" y="2157984"/>
            <a:ext cx="3621024" cy="384048"/>
          </a:xfrm>
          <a:prstGeom prst="roundRect">
            <a:avLst>
              <a:gd name="adj" fmla="val 16667"/>
            </a:avLst>
          </a:prstGeom>
          <a:solidFill>
            <a:srgbClr val="1C1C34"/>
          </a:solidFill>
          <a:ln w="9525">
            <a:solidFill>
              <a:srgbClr val="34345A"/>
            </a:solidFill>
            <a:prstDash val="solid"/>
          </a:ln>
        </p:spPr>
      </p:sp>
      <p:sp>
        <p:nvSpPr>
          <p:cNvPr id="19" name="Text 17"/>
          <p:cNvSpPr/>
          <p:nvPr/>
        </p:nvSpPr>
        <p:spPr>
          <a:xfrm>
            <a:off x="3310128" y="2157984"/>
            <a:ext cx="3621024" cy="384048"/>
          </a:xfrm>
          <a:prstGeom prst="rect">
            <a:avLst/>
          </a:prstGeom>
          <a:noFill/>
          <a:ln/>
        </p:spPr>
        <p:txBody>
          <a:bodyPr wrap="square" lIns="0" tIns="0" rIns="0" bIns="0" rtlCol="0" anchor="ctr"/>
          <a:lstStyle/>
          <a:p>
            <a:pPr algn="ctr" indent="0" marL="0">
              <a:buNone/>
            </a:pPr>
            <a:r>
              <a:rPr lang="en-US" sz="950" dirty="0">
                <a:solidFill>
                  <a:srgbClr val="F4F4F5"/>
                </a:solidFill>
                <a:latin typeface="Calibri" pitchFamily="34" charset="0"/>
                <a:ea typeface="Calibri" pitchFamily="34" charset="-122"/>
                <a:cs typeface="Calibri" pitchFamily="34" charset="-120"/>
              </a:rPr>
              <a:t>Evidence Collector  →  Source Ranking Agent</a:t>
            </a:r>
            <a:endParaRPr lang="en-US" sz="950" dirty="0"/>
          </a:p>
        </p:txBody>
      </p:sp>
      <p:sp>
        <p:nvSpPr>
          <p:cNvPr id="20" name="Shape 18"/>
          <p:cNvSpPr/>
          <p:nvPr/>
        </p:nvSpPr>
        <p:spPr>
          <a:xfrm>
            <a:off x="7315200" y="1325880"/>
            <a:ext cx="4297680" cy="1371600"/>
          </a:xfrm>
          <a:prstGeom prst="roundRect">
            <a:avLst>
              <a:gd name="adj" fmla="val 6667"/>
            </a:avLst>
          </a:prstGeom>
          <a:solidFill>
            <a:srgbClr val="16162B"/>
          </a:solidFill>
          <a:ln w="15875">
            <a:solidFill>
              <a:srgbClr val="34D399"/>
            </a:solidFill>
            <a:prstDash val="solid"/>
          </a:ln>
          <a:effectLst>
            <a:outerShdw sx="100000" sy="100000" kx="0" ky="0" algn="bl" rotWithShape="0" blurRad="228600" dist="38100" dir="5400000">
              <a:srgbClr val="000000">
                <a:alpha val="45000"/>
              </a:srgbClr>
            </a:outerShdw>
          </a:effectLst>
        </p:spPr>
      </p:sp>
      <p:sp>
        <p:nvSpPr>
          <p:cNvPr id="21" name="Text 19"/>
          <p:cNvSpPr/>
          <p:nvPr/>
        </p:nvSpPr>
        <p:spPr>
          <a:xfrm>
            <a:off x="7315200" y="1380744"/>
            <a:ext cx="4297680" cy="274320"/>
          </a:xfrm>
          <a:prstGeom prst="rect">
            <a:avLst/>
          </a:prstGeom>
          <a:noFill/>
          <a:ln/>
        </p:spPr>
        <p:txBody>
          <a:bodyPr wrap="square" lIns="0" tIns="0" rIns="0" bIns="0" rtlCol="0" anchor="ctr"/>
          <a:lstStyle/>
          <a:p>
            <a:pPr algn="ctr" indent="0" marL="0">
              <a:buNone/>
            </a:pPr>
            <a:r>
              <a:rPr lang="en-US" sz="1050" b="1" dirty="0">
                <a:solidFill>
                  <a:srgbClr val="34D399"/>
                </a:solidFill>
                <a:latin typeface="Calibri" pitchFamily="34" charset="0"/>
                <a:ea typeface="Calibri" pitchFamily="34" charset="-122"/>
                <a:cs typeface="Calibri" pitchFamily="34" charset="-120"/>
              </a:rPr>
              <a:t>MODELS  ·  4 PROVIDERS</a:t>
            </a:r>
            <a:endParaRPr lang="en-US" sz="1050" dirty="0"/>
          </a:p>
        </p:txBody>
      </p:sp>
      <p:sp>
        <p:nvSpPr>
          <p:cNvPr id="22" name="Shape 20"/>
          <p:cNvSpPr/>
          <p:nvPr/>
        </p:nvSpPr>
        <p:spPr>
          <a:xfrm>
            <a:off x="7479792" y="1691640"/>
            <a:ext cx="1920240" cy="384048"/>
          </a:xfrm>
          <a:prstGeom prst="roundRect">
            <a:avLst>
              <a:gd name="adj" fmla="val 16667"/>
            </a:avLst>
          </a:prstGeom>
          <a:solidFill>
            <a:srgbClr val="1C1C34"/>
          </a:solidFill>
          <a:ln w="9525">
            <a:solidFill>
              <a:srgbClr val="34345A"/>
            </a:solidFill>
            <a:prstDash val="solid"/>
          </a:ln>
        </p:spPr>
      </p:sp>
      <p:sp>
        <p:nvSpPr>
          <p:cNvPr id="23" name="Text 21"/>
          <p:cNvSpPr/>
          <p:nvPr/>
        </p:nvSpPr>
        <p:spPr>
          <a:xfrm>
            <a:off x="7479792" y="1691640"/>
            <a:ext cx="1920240" cy="384048"/>
          </a:xfrm>
          <a:prstGeom prst="rect">
            <a:avLst/>
          </a:prstGeom>
          <a:noFill/>
          <a:ln/>
        </p:spPr>
        <p:txBody>
          <a:bodyPr wrap="square" lIns="0" tIns="0" rIns="0" bIns="0" rtlCol="0" anchor="ctr"/>
          <a:lstStyle/>
          <a:p>
            <a:pPr algn="ctr" indent="0" marL="0">
              <a:buNone/>
            </a:pPr>
            <a:r>
              <a:rPr lang="en-US" sz="950" dirty="0">
                <a:solidFill>
                  <a:srgbClr val="34D399"/>
                </a:solidFill>
                <a:latin typeface="Calibri" pitchFamily="34" charset="0"/>
                <a:ea typeface="Calibri" pitchFamily="34" charset="-122"/>
                <a:cs typeface="Calibri" pitchFamily="34" charset="-120"/>
              </a:rPr>
              <a:t>Groq  llama-3.3-70b</a:t>
            </a:r>
            <a:endParaRPr lang="en-US" sz="950" dirty="0"/>
          </a:p>
        </p:txBody>
      </p:sp>
      <p:sp>
        <p:nvSpPr>
          <p:cNvPr id="24" name="Shape 22"/>
          <p:cNvSpPr/>
          <p:nvPr/>
        </p:nvSpPr>
        <p:spPr>
          <a:xfrm>
            <a:off x="9528048" y="1691640"/>
            <a:ext cx="1920240" cy="384048"/>
          </a:xfrm>
          <a:prstGeom prst="roundRect">
            <a:avLst>
              <a:gd name="adj" fmla="val 16667"/>
            </a:avLst>
          </a:prstGeom>
          <a:solidFill>
            <a:srgbClr val="1C1C34"/>
          </a:solidFill>
          <a:ln w="9525">
            <a:solidFill>
              <a:srgbClr val="34345A"/>
            </a:solidFill>
            <a:prstDash val="solid"/>
          </a:ln>
        </p:spPr>
      </p:sp>
      <p:sp>
        <p:nvSpPr>
          <p:cNvPr id="25" name="Text 23"/>
          <p:cNvSpPr/>
          <p:nvPr/>
        </p:nvSpPr>
        <p:spPr>
          <a:xfrm>
            <a:off x="9528048" y="1691640"/>
            <a:ext cx="1920240" cy="384048"/>
          </a:xfrm>
          <a:prstGeom prst="rect">
            <a:avLst/>
          </a:prstGeom>
          <a:noFill/>
          <a:ln/>
        </p:spPr>
        <p:txBody>
          <a:bodyPr wrap="square" lIns="0" tIns="0" rIns="0" bIns="0" rtlCol="0" anchor="ctr"/>
          <a:lstStyle/>
          <a:p>
            <a:pPr algn="ctr" indent="0" marL="0">
              <a:buNone/>
            </a:pPr>
            <a:r>
              <a:rPr lang="en-US" sz="950" dirty="0">
                <a:solidFill>
                  <a:srgbClr val="34D399"/>
                </a:solidFill>
                <a:latin typeface="Calibri" pitchFamily="34" charset="0"/>
                <a:ea typeface="Calibri" pitchFamily="34" charset="-122"/>
                <a:cs typeface="Calibri" pitchFamily="34" charset="-120"/>
              </a:rPr>
              <a:t>Gemini 3.5 Flash</a:t>
            </a:r>
            <a:endParaRPr lang="en-US" sz="950" dirty="0"/>
          </a:p>
        </p:txBody>
      </p:sp>
      <p:sp>
        <p:nvSpPr>
          <p:cNvPr id="26" name="Shape 24"/>
          <p:cNvSpPr/>
          <p:nvPr/>
        </p:nvSpPr>
        <p:spPr>
          <a:xfrm>
            <a:off x="7479792" y="2157984"/>
            <a:ext cx="3968496" cy="384048"/>
          </a:xfrm>
          <a:prstGeom prst="roundRect">
            <a:avLst>
              <a:gd name="adj" fmla="val 16667"/>
            </a:avLst>
          </a:prstGeom>
          <a:solidFill>
            <a:srgbClr val="1C1C34"/>
          </a:solidFill>
          <a:ln w="9525">
            <a:solidFill>
              <a:srgbClr val="34345A"/>
            </a:solidFill>
            <a:prstDash val="solid"/>
          </a:ln>
        </p:spPr>
      </p:sp>
      <p:sp>
        <p:nvSpPr>
          <p:cNvPr id="27" name="Text 25"/>
          <p:cNvSpPr/>
          <p:nvPr/>
        </p:nvSpPr>
        <p:spPr>
          <a:xfrm>
            <a:off x="7479792" y="2157984"/>
            <a:ext cx="3968496" cy="384048"/>
          </a:xfrm>
          <a:prstGeom prst="rect">
            <a:avLst/>
          </a:prstGeom>
          <a:noFill/>
          <a:ln/>
        </p:spPr>
        <p:txBody>
          <a:bodyPr wrap="square" lIns="0" tIns="0" rIns="0" bIns="0" rtlCol="0" anchor="ctr"/>
          <a:lstStyle/>
          <a:p>
            <a:pPr algn="ctr" indent="0" marL="0">
              <a:buNone/>
            </a:pPr>
            <a:r>
              <a:rPr lang="en-US" sz="950" dirty="0">
                <a:solidFill>
                  <a:srgbClr val="F4F4F5"/>
                </a:solidFill>
                <a:latin typeface="Calibri" pitchFamily="34" charset="0"/>
                <a:ea typeface="Calibri" pitchFamily="34" charset="-122"/>
                <a:cs typeface="Calibri" pitchFamily="34" charset="-120"/>
              </a:rPr>
              <a:t>OpenAI  ·  Anthropic  ·  offline deterministic fallback</a:t>
            </a:r>
            <a:endParaRPr lang="en-US" sz="950" dirty="0"/>
          </a:p>
        </p:txBody>
      </p:sp>
      <p:sp>
        <p:nvSpPr>
          <p:cNvPr id="28" name="Shape 26"/>
          <p:cNvSpPr/>
          <p:nvPr/>
        </p:nvSpPr>
        <p:spPr>
          <a:xfrm>
            <a:off x="548640" y="2880360"/>
            <a:ext cx="6537960" cy="1371600"/>
          </a:xfrm>
          <a:prstGeom prst="roundRect">
            <a:avLst>
              <a:gd name="adj" fmla="val 6667"/>
            </a:avLst>
          </a:prstGeom>
          <a:solidFill>
            <a:srgbClr val="16162B"/>
          </a:solidFill>
          <a:ln w="15875">
            <a:solidFill>
              <a:srgbClr val="FBBF24"/>
            </a:solidFill>
            <a:prstDash val="solid"/>
          </a:ln>
          <a:effectLst>
            <a:outerShdw sx="100000" sy="100000" kx="0" ky="0" algn="bl" rotWithShape="0" blurRad="228600" dist="38100" dir="5400000">
              <a:srgbClr val="000000">
                <a:alpha val="45000"/>
              </a:srgbClr>
            </a:outerShdw>
          </a:effectLst>
        </p:spPr>
      </p:sp>
      <p:sp>
        <p:nvSpPr>
          <p:cNvPr id="29" name="Text 27"/>
          <p:cNvSpPr/>
          <p:nvPr/>
        </p:nvSpPr>
        <p:spPr>
          <a:xfrm>
            <a:off x="548640" y="2935224"/>
            <a:ext cx="6537960" cy="274320"/>
          </a:xfrm>
          <a:prstGeom prst="rect">
            <a:avLst/>
          </a:prstGeom>
          <a:noFill/>
          <a:ln/>
        </p:spPr>
        <p:txBody>
          <a:bodyPr wrap="square" lIns="0" tIns="0" rIns="0" bIns="0" rtlCol="0" anchor="ctr"/>
          <a:lstStyle/>
          <a:p>
            <a:pPr algn="ctr" indent="0" marL="0">
              <a:buNone/>
            </a:pPr>
            <a:r>
              <a:rPr lang="en-US" sz="1050" b="1" dirty="0">
                <a:solidFill>
                  <a:srgbClr val="FBBF24"/>
                </a:solidFill>
                <a:latin typeface="Calibri" pitchFamily="34" charset="0"/>
                <a:ea typeface="Calibri" pitchFamily="34" charset="-122"/>
                <a:cs typeface="Calibri" pitchFamily="34" charset="-120"/>
              </a:rPr>
              <a:t>PER-CLAIM VERIFICATION  (Send fan-out, N branches)</a:t>
            </a:r>
            <a:endParaRPr lang="en-US" sz="1050" dirty="0"/>
          </a:p>
        </p:txBody>
      </p:sp>
      <p:sp>
        <p:nvSpPr>
          <p:cNvPr id="30" name="Shape 28"/>
          <p:cNvSpPr/>
          <p:nvPr/>
        </p:nvSpPr>
        <p:spPr>
          <a:xfrm>
            <a:off x="713232" y="3246120"/>
            <a:ext cx="1417320" cy="384048"/>
          </a:xfrm>
          <a:prstGeom prst="roundRect">
            <a:avLst>
              <a:gd name="adj" fmla="val 16667"/>
            </a:avLst>
          </a:prstGeom>
          <a:solidFill>
            <a:srgbClr val="1C1C34"/>
          </a:solidFill>
          <a:ln w="9525">
            <a:solidFill>
              <a:srgbClr val="34345A"/>
            </a:solidFill>
            <a:prstDash val="solid"/>
          </a:ln>
        </p:spPr>
      </p:sp>
      <p:sp>
        <p:nvSpPr>
          <p:cNvPr id="31" name="Text 29"/>
          <p:cNvSpPr/>
          <p:nvPr/>
        </p:nvSpPr>
        <p:spPr>
          <a:xfrm>
            <a:off x="713232" y="3246120"/>
            <a:ext cx="1417320" cy="384048"/>
          </a:xfrm>
          <a:prstGeom prst="rect">
            <a:avLst/>
          </a:prstGeom>
          <a:noFill/>
          <a:ln/>
        </p:spPr>
        <p:txBody>
          <a:bodyPr wrap="square" lIns="0" tIns="0" rIns="0" bIns="0" rtlCol="0" anchor="ctr"/>
          <a:lstStyle/>
          <a:p>
            <a:pPr algn="ctr" indent="0" marL="0">
              <a:buNone/>
            </a:pPr>
            <a:r>
              <a:rPr lang="en-US" sz="950" dirty="0">
                <a:solidFill>
                  <a:srgbClr val="FBBF24"/>
                </a:solidFill>
                <a:latin typeface="Calibri" pitchFamily="34" charset="0"/>
                <a:ea typeface="Calibri" pitchFamily="34" charset="-122"/>
                <a:cs typeface="Calibri" pitchFamily="34" charset="-120"/>
              </a:rPr>
              <a:t>Claim Extractor</a:t>
            </a:r>
            <a:endParaRPr lang="en-US" sz="950" dirty="0"/>
          </a:p>
        </p:txBody>
      </p:sp>
      <p:sp>
        <p:nvSpPr>
          <p:cNvPr id="32" name="Shape 30"/>
          <p:cNvSpPr/>
          <p:nvPr/>
        </p:nvSpPr>
        <p:spPr>
          <a:xfrm>
            <a:off x="2240280" y="3246120"/>
            <a:ext cx="1417320" cy="384048"/>
          </a:xfrm>
          <a:prstGeom prst="roundRect">
            <a:avLst>
              <a:gd name="adj" fmla="val 16667"/>
            </a:avLst>
          </a:prstGeom>
          <a:solidFill>
            <a:srgbClr val="1C1C34"/>
          </a:solidFill>
          <a:ln w="9525">
            <a:solidFill>
              <a:srgbClr val="34345A"/>
            </a:solidFill>
            <a:prstDash val="solid"/>
          </a:ln>
        </p:spPr>
      </p:sp>
      <p:sp>
        <p:nvSpPr>
          <p:cNvPr id="33" name="Text 31"/>
          <p:cNvSpPr/>
          <p:nvPr/>
        </p:nvSpPr>
        <p:spPr>
          <a:xfrm>
            <a:off x="2240280" y="3246120"/>
            <a:ext cx="1417320" cy="384048"/>
          </a:xfrm>
          <a:prstGeom prst="rect">
            <a:avLst/>
          </a:prstGeom>
          <a:noFill/>
          <a:ln/>
        </p:spPr>
        <p:txBody>
          <a:bodyPr wrap="square" lIns="0" tIns="0" rIns="0" bIns="0" rtlCol="0" anchor="ctr"/>
          <a:lstStyle/>
          <a:p>
            <a:pPr algn="ctr" indent="0" marL="0">
              <a:buNone/>
            </a:pPr>
            <a:r>
              <a:rPr lang="en-US" sz="950" dirty="0">
                <a:solidFill>
                  <a:srgbClr val="FBBF24"/>
                </a:solidFill>
                <a:latin typeface="Calibri" pitchFamily="34" charset="0"/>
                <a:ea typeface="Calibri" pitchFamily="34" charset="-122"/>
                <a:cs typeface="Calibri" pitchFamily="34" charset="-120"/>
              </a:rPr>
              <a:t>Check-worthy</a:t>
            </a:r>
            <a:endParaRPr lang="en-US" sz="950" dirty="0"/>
          </a:p>
        </p:txBody>
      </p:sp>
      <p:sp>
        <p:nvSpPr>
          <p:cNvPr id="34" name="Shape 32"/>
          <p:cNvSpPr/>
          <p:nvPr/>
        </p:nvSpPr>
        <p:spPr>
          <a:xfrm>
            <a:off x="3767328" y="3246120"/>
            <a:ext cx="1417320" cy="384048"/>
          </a:xfrm>
          <a:prstGeom prst="roundRect">
            <a:avLst>
              <a:gd name="adj" fmla="val 16667"/>
            </a:avLst>
          </a:prstGeom>
          <a:solidFill>
            <a:srgbClr val="1C1C34"/>
          </a:solidFill>
          <a:ln w="9525">
            <a:solidFill>
              <a:srgbClr val="34345A"/>
            </a:solidFill>
            <a:prstDash val="solid"/>
          </a:ln>
        </p:spPr>
      </p:sp>
      <p:sp>
        <p:nvSpPr>
          <p:cNvPr id="35" name="Text 33"/>
          <p:cNvSpPr/>
          <p:nvPr/>
        </p:nvSpPr>
        <p:spPr>
          <a:xfrm>
            <a:off x="3767328" y="3246120"/>
            <a:ext cx="1417320" cy="384048"/>
          </a:xfrm>
          <a:prstGeom prst="rect">
            <a:avLst/>
          </a:prstGeom>
          <a:noFill/>
          <a:ln/>
        </p:spPr>
        <p:txBody>
          <a:bodyPr wrap="square" lIns="0" tIns="0" rIns="0" bIns="0" rtlCol="0" anchor="ctr"/>
          <a:lstStyle/>
          <a:p>
            <a:pPr algn="ctr" indent="0" marL="0">
              <a:buNone/>
            </a:pPr>
            <a:r>
              <a:rPr lang="en-US" sz="950" dirty="0">
                <a:solidFill>
                  <a:srgbClr val="FBBF24"/>
                </a:solidFill>
                <a:latin typeface="Calibri" pitchFamily="34" charset="0"/>
                <a:ea typeface="Calibri" pitchFamily="34" charset="-122"/>
                <a:cs typeface="Calibri" pitchFamily="34" charset="-120"/>
              </a:rPr>
              <a:t>Entailment</a:t>
            </a:r>
            <a:endParaRPr lang="en-US" sz="950" dirty="0"/>
          </a:p>
        </p:txBody>
      </p:sp>
      <p:sp>
        <p:nvSpPr>
          <p:cNvPr id="36" name="Shape 34"/>
          <p:cNvSpPr/>
          <p:nvPr/>
        </p:nvSpPr>
        <p:spPr>
          <a:xfrm>
            <a:off x="5294376" y="3246120"/>
            <a:ext cx="1627632" cy="384048"/>
          </a:xfrm>
          <a:prstGeom prst="roundRect">
            <a:avLst>
              <a:gd name="adj" fmla="val 16667"/>
            </a:avLst>
          </a:prstGeom>
          <a:solidFill>
            <a:srgbClr val="1C1C34"/>
          </a:solidFill>
          <a:ln w="9525">
            <a:solidFill>
              <a:srgbClr val="34345A"/>
            </a:solidFill>
            <a:prstDash val="solid"/>
          </a:ln>
        </p:spPr>
      </p:sp>
      <p:sp>
        <p:nvSpPr>
          <p:cNvPr id="37" name="Text 35"/>
          <p:cNvSpPr/>
          <p:nvPr/>
        </p:nvSpPr>
        <p:spPr>
          <a:xfrm>
            <a:off x="5294376" y="3246120"/>
            <a:ext cx="1627632" cy="384048"/>
          </a:xfrm>
          <a:prstGeom prst="rect">
            <a:avLst/>
          </a:prstGeom>
          <a:noFill/>
          <a:ln/>
        </p:spPr>
        <p:txBody>
          <a:bodyPr wrap="square" lIns="0" tIns="0" rIns="0" bIns="0" rtlCol="0" anchor="ctr"/>
          <a:lstStyle/>
          <a:p>
            <a:pPr algn="ctr" indent="0" marL="0">
              <a:buNone/>
            </a:pPr>
            <a:r>
              <a:rPr lang="en-US" sz="950" dirty="0">
                <a:solidFill>
                  <a:srgbClr val="FBBF24"/>
                </a:solidFill>
                <a:latin typeface="Calibri" pitchFamily="34" charset="0"/>
                <a:ea typeface="Calibri" pitchFamily="34" charset="-122"/>
                <a:cs typeface="Calibri" pitchFamily="34" charset="-120"/>
              </a:rPr>
              <a:t>Contradiction</a:t>
            </a:r>
            <a:endParaRPr lang="en-US" sz="950" dirty="0"/>
          </a:p>
        </p:txBody>
      </p:sp>
      <p:sp>
        <p:nvSpPr>
          <p:cNvPr id="38" name="Shape 36"/>
          <p:cNvSpPr/>
          <p:nvPr/>
        </p:nvSpPr>
        <p:spPr>
          <a:xfrm>
            <a:off x="713232" y="3712464"/>
            <a:ext cx="2194560" cy="384048"/>
          </a:xfrm>
          <a:prstGeom prst="roundRect">
            <a:avLst>
              <a:gd name="adj" fmla="val 16667"/>
            </a:avLst>
          </a:prstGeom>
          <a:solidFill>
            <a:srgbClr val="1C1C34"/>
          </a:solidFill>
          <a:ln w="9525">
            <a:solidFill>
              <a:srgbClr val="34345A"/>
            </a:solidFill>
            <a:prstDash val="solid"/>
          </a:ln>
        </p:spPr>
      </p:sp>
      <p:sp>
        <p:nvSpPr>
          <p:cNvPr id="39" name="Text 37"/>
          <p:cNvSpPr/>
          <p:nvPr/>
        </p:nvSpPr>
        <p:spPr>
          <a:xfrm>
            <a:off x="713232" y="3712464"/>
            <a:ext cx="2194560" cy="384048"/>
          </a:xfrm>
          <a:prstGeom prst="rect">
            <a:avLst/>
          </a:prstGeom>
          <a:noFill/>
          <a:ln/>
        </p:spPr>
        <p:txBody>
          <a:bodyPr wrap="square" lIns="0" tIns="0" rIns="0" bIns="0" rtlCol="0" anchor="ctr"/>
          <a:lstStyle/>
          <a:p>
            <a:pPr algn="ctr" indent="0" marL="0">
              <a:buNone/>
            </a:pPr>
            <a:r>
              <a:rPr lang="en-US" sz="950" dirty="0">
                <a:solidFill>
                  <a:srgbClr val="F4F4F5"/>
                </a:solidFill>
                <a:latin typeface="Calibri" pitchFamily="34" charset="0"/>
                <a:ea typeface="Calibri" pitchFamily="34" charset="-122"/>
                <a:cs typeface="Calibri" pitchFamily="34" charset="-120"/>
              </a:rPr>
              <a:t>Advocate  |  Sceptic</a:t>
            </a:r>
            <a:endParaRPr lang="en-US" sz="950" dirty="0"/>
          </a:p>
        </p:txBody>
      </p:sp>
      <p:sp>
        <p:nvSpPr>
          <p:cNvPr id="40" name="Shape 38"/>
          <p:cNvSpPr/>
          <p:nvPr/>
        </p:nvSpPr>
        <p:spPr>
          <a:xfrm>
            <a:off x="3017520" y="3712464"/>
            <a:ext cx="1828800" cy="384048"/>
          </a:xfrm>
          <a:prstGeom prst="roundRect">
            <a:avLst>
              <a:gd name="adj" fmla="val 16667"/>
            </a:avLst>
          </a:prstGeom>
          <a:solidFill>
            <a:srgbClr val="1C1C34"/>
          </a:solidFill>
          <a:ln w="9525">
            <a:solidFill>
              <a:srgbClr val="34345A"/>
            </a:solidFill>
            <a:prstDash val="solid"/>
          </a:ln>
        </p:spPr>
      </p:sp>
      <p:sp>
        <p:nvSpPr>
          <p:cNvPr id="41" name="Text 39"/>
          <p:cNvSpPr/>
          <p:nvPr/>
        </p:nvSpPr>
        <p:spPr>
          <a:xfrm>
            <a:off x="3017520" y="3712464"/>
            <a:ext cx="1828800" cy="384048"/>
          </a:xfrm>
          <a:prstGeom prst="rect">
            <a:avLst/>
          </a:prstGeom>
          <a:noFill/>
          <a:ln/>
        </p:spPr>
        <p:txBody>
          <a:bodyPr wrap="square" lIns="0" tIns="0" rIns="0" bIns="0" rtlCol="0" anchor="ctr"/>
          <a:lstStyle/>
          <a:p>
            <a:pPr algn="ctr" indent="0" marL="0">
              <a:buNone/>
            </a:pPr>
            <a:r>
              <a:rPr lang="en-US" sz="950" dirty="0">
                <a:solidFill>
                  <a:srgbClr val="F4F4F5"/>
                </a:solidFill>
                <a:latin typeface="Calibri" pitchFamily="34" charset="0"/>
                <a:ea typeface="Calibri" pitchFamily="34" charset="-122"/>
                <a:cs typeface="Calibri" pitchFamily="34" charset="-120"/>
              </a:rPr>
              <a:t>Adjudicator</a:t>
            </a:r>
            <a:endParaRPr lang="en-US" sz="950" dirty="0"/>
          </a:p>
        </p:txBody>
      </p:sp>
      <p:sp>
        <p:nvSpPr>
          <p:cNvPr id="42" name="Shape 40"/>
          <p:cNvSpPr/>
          <p:nvPr/>
        </p:nvSpPr>
        <p:spPr>
          <a:xfrm>
            <a:off x="4956048" y="3712464"/>
            <a:ext cx="1965960" cy="384048"/>
          </a:xfrm>
          <a:prstGeom prst="roundRect">
            <a:avLst>
              <a:gd name="adj" fmla="val 16667"/>
            </a:avLst>
          </a:prstGeom>
          <a:solidFill>
            <a:srgbClr val="1C1C34"/>
          </a:solidFill>
          <a:ln w="9525">
            <a:solidFill>
              <a:srgbClr val="34345A"/>
            </a:solidFill>
            <a:prstDash val="solid"/>
          </a:ln>
        </p:spPr>
      </p:sp>
      <p:sp>
        <p:nvSpPr>
          <p:cNvPr id="43" name="Text 41"/>
          <p:cNvSpPr/>
          <p:nvPr/>
        </p:nvSpPr>
        <p:spPr>
          <a:xfrm>
            <a:off x="4956048" y="3712464"/>
            <a:ext cx="1965960" cy="384048"/>
          </a:xfrm>
          <a:prstGeom prst="rect">
            <a:avLst/>
          </a:prstGeom>
          <a:noFill/>
          <a:ln/>
        </p:spPr>
        <p:txBody>
          <a:bodyPr wrap="square" lIns="0" tIns="0" rIns="0" bIns="0" rtlCol="0" anchor="ctr"/>
          <a:lstStyle/>
          <a:p>
            <a:pPr algn="ctr" indent="0" marL="0">
              <a:buNone/>
            </a:pPr>
            <a:r>
              <a:rPr lang="en-US" sz="950" dirty="0">
                <a:solidFill>
                  <a:srgbClr val="F4F4F5"/>
                </a:solidFill>
                <a:latin typeface="Calibri" pitchFamily="34" charset="0"/>
                <a:ea typeface="Calibri" pitchFamily="34" charset="-122"/>
                <a:cs typeface="Calibri" pitchFamily="34" charset="-120"/>
              </a:rPr>
              <a:t>Confidence Model</a:t>
            </a:r>
            <a:endParaRPr lang="en-US" sz="950" dirty="0"/>
          </a:p>
        </p:txBody>
      </p:sp>
      <p:sp>
        <p:nvSpPr>
          <p:cNvPr id="44" name="Shape 42"/>
          <p:cNvSpPr/>
          <p:nvPr/>
        </p:nvSpPr>
        <p:spPr>
          <a:xfrm>
            <a:off x="7315200" y="2880360"/>
            <a:ext cx="4297680" cy="1371600"/>
          </a:xfrm>
          <a:prstGeom prst="roundRect">
            <a:avLst>
              <a:gd name="adj" fmla="val 6667"/>
            </a:avLst>
          </a:prstGeom>
          <a:solidFill>
            <a:srgbClr val="16162B"/>
          </a:solidFill>
          <a:ln w="15875">
            <a:solidFill>
              <a:srgbClr val="8B5CF6"/>
            </a:solidFill>
            <a:prstDash val="solid"/>
          </a:ln>
          <a:effectLst>
            <a:outerShdw sx="100000" sy="100000" kx="0" ky="0" algn="bl" rotWithShape="0" blurRad="228600" dist="38100" dir="5400000">
              <a:srgbClr val="000000">
                <a:alpha val="45000"/>
              </a:srgbClr>
            </a:outerShdw>
          </a:effectLst>
        </p:spPr>
      </p:sp>
      <p:sp>
        <p:nvSpPr>
          <p:cNvPr id="45" name="Text 43"/>
          <p:cNvSpPr/>
          <p:nvPr/>
        </p:nvSpPr>
        <p:spPr>
          <a:xfrm>
            <a:off x="7315200" y="2935224"/>
            <a:ext cx="4297680" cy="274320"/>
          </a:xfrm>
          <a:prstGeom prst="rect">
            <a:avLst/>
          </a:prstGeom>
          <a:noFill/>
          <a:ln/>
        </p:spPr>
        <p:txBody>
          <a:bodyPr wrap="square" lIns="0" tIns="0" rIns="0" bIns="0" rtlCol="0" anchor="ctr"/>
          <a:lstStyle/>
          <a:p>
            <a:pPr algn="ctr" indent="0" marL="0">
              <a:buNone/>
            </a:pPr>
            <a:r>
              <a:rPr lang="en-US" sz="1050" b="1" dirty="0">
                <a:solidFill>
                  <a:srgbClr val="8B5CF6"/>
                </a:solidFill>
                <a:latin typeface="Calibri" pitchFamily="34" charset="0"/>
                <a:ea typeface="Calibri" pitchFamily="34" charset="-122"/>
                <a:cs typeface="Calibri" pitchFamily="34" charset="-120"/>
              </a:rPr>
              <a:t>MEMORY  ·  STORAGE</a:t>
            </a:r>
            <a:endParaRPr lang="en-US" sz="1050" dirty="0"/>
          </a:p>
        </p:txBody>
      </p:sp>
      <p:sp>
        <p:nvSpPr>
          <p:cNvPr id="46" name="Shape 44"/>
          <p:cNvSpPr/>
          <p:nvPr/>
        </p:nvSpPr>
        <p:spPr>
          <a:xfrm>
            <a:off x="7479792" y="3246120"/>
            <a:ext cx="1920240" cy="384048"/>
          </a:xfrm>
          <a:prstGeom prst="roundRect">
            <a:avLst>
              <a:gd name="adj" fmla="val 16667"/>
            </a:avLst>
          </a:prstGeom>
          <a:solidFill>
            <a:srgbClr val="1C1C34"/>
          </a:solidFill>
          <a:ln w="9525">
            <a:solidFill>
              <a:srgbClr val="34345A"/>
            </a:solidFill>
            <a:prstDash val="solid"/>
          </a:ln>
        </p:spPr>
      </p:sp>
      <p:sp>
        <p:nvSpPr>
          <p:cNvPr id="47" name="Text 45"/>
          <p:cNvSpPr/>
          <p:nvPr/>
        </p:nvSpPr>
        <p:spPr>
          <a:xfrm>
            <a:off x="7479792" y="3246120"/>
            <a:ext cx="1920240" cy="384048"/>
          </a:xfrm>
          <a:prstGeom prst="rect">
            <a:avLst/>
          </a:prstGeom>
          <a:noFill/>
          <a:ln/>
        </p:spPr>
        <p:txBody>
          <a:bodyPr wrap="square" lIns="0" tIns="0" rIns="0" bIns="0" rtlCol="0" anchor="ctr"/>
          <a:lstStyle/>
          <a:p>
            <a:pPr algn="ctr" indent="0" marL="0">
              <a:buNone/>
            </a:pPr>
            <a:r>
              <a:rPr lang="en-US" sz="950" dirty="0">
                <a:solidFill>
                  <a:srgbClr val="8B5CF6"/>
                </a:solidFill>
                <a:latin typeface="Calibri" pitchFamily="34" charset="0"/>
                <a:ea typeface="Calibri" pitchFamily="34" charset="-122"/>
                <a:cs typeface="Calibri" pitchFamily="34" charset="-120"/>
              </a:rPr>
              <a:t>NumPy Vector Store</a:t>
            </a:r>
            <a:endParaRPr lang="en-US" sz="950" dirty="0"/>
          </a:p>
        </p:txBody>
      </p:sp>
      <p:sp>
        <p:nvSpPr>
          <p:cNvPr id="48" name="Shape 46"/>
          <p:cNvSpPr/>
          <p:nvPr/>
        </p:nvSpPr>
        <p:spPr>
          <a:xfrm>
            <a:off x="9528048" y="3246120"/>
            <a:ext cx="1920240" cy="384048"/>
          </a:xfrm>
          <a:prstGeom prst="roundRect">
            <a:avLst>
              <a:gd name="adj" fmla="val 16667"/>
            </a:avLst>
          </a:prstGeom>
          <a:solidFill>
            <a:srgbClr val="1C1C34"/>
          </a:solidFill>
          <a:ln w="9525">
            <a:solidFill>
              <a:srgbClr val="34345A"/>
            </a:solidFill>
            <a:prstDash val="solid"/>
          </a:ln>
        </p:spPr>
      </p:sp>
      <p:sp>
        <p:nvSpPr>
          <p:cNvPr id="49" name="Text 47"/>
          <p:cNvSpPr/>
          <p:nvPr/>
        </p:nvSpPr>
        <p:spPr>
          <a:xfrm>
            <a:off x="9528048" y="3246120"/>
            <a:ext cx="1920240" cy="384048"/>
          </a:xfrm>
          <a:prstGeom prst="rect">
            <a:avLst/>
          </a:prstGeom>
          <a:noFill/>
          <a:ln/>
        </p:spPr>
        <p:txBody>
          <a:bodyPr wrap="square" lIns="0" tIns="0" rIns="0" bIns="0" rtlCol="0" anchor="ctr"/>
          <a:lstStyle/>
          <a:p>
            <a:pPr algn="ctr" indent="0" marL="0">
              <a:buNone/>
            </a:pPr>
            <a:r>
              <a:rPr lang="en-US" sz="950" dirty="0">
                <a:solidFill>
                  <a:srgbClr val="8B5CF6"/>
                </a:solidFill>
                <a:latin typeface="Calibri" pitchFamily="34" charset="0"/>
                <a:ea typeface="Calibri" pitchFamily="34" charset="-122"/>
                <a:cs typeface="Calibri" pitchFamily="34" charset="-120"/>
              </a:rPr>
              <a:t>SQLite  (WAL)</a:t>
            </a:r>
            <a:endParaRPr lang="en-US" sz="950" dirty="0"/>
          </a:p>
        </p:txBody>
      </p:sp>
      <p:sp>
        <p:nvSpPr>
          <p:cNvPr id="50" name="Shape 48"/>
          <p:cNvSpPr/>
          <p:nvPr/>
        </p:nvSpPr>
        <p:spPr>
          <a:xfrm>
            <a:off x="7479792" y="3712464"/>
            <a:ext cx="3968496" cy="384048"/>
          </a:xfrm>
          <a:prstGeom prst="roundRect">
            <a:avLst>
              <a:gd name="adj" fmla="val 16667"/>
            </a:avLst>
          </a:prstGeom>
          <a:solidFill>
            <a:srgbClr val="1C1C34"/>
          </a:solidFill>
          <a:ln w="9525">
            <a:solidFill>
              <a:srgbClr val="34345A"/>
            </a:solidFill>
            <a:prstDash val="solid"/>
          </a:ln>
        </p:spPr>
      </p:sp>
      <p:sp>
        <p:nvSpPr>
          <p:cNvPr id="51" name="Text 49"/>
          <p:cNvSpPr/>
          <p:nvPr/>
        </p:nvSpPr>
        <p:spPr>
          <a:xfrm>
            <a:off x="7479792" y="3712464"/>
            <a:ext cx="3968496" cy="384048"/>
          </a:xfrm>
          <a:prstGeom prst="rect">
            <a:avLst/>
          </a:prstGeom>
          <a:noFill/>
          <a:ln/>
        </p:spPr>
        <p:txBody>
          <a:bodyPr wrap="square" lIns="0" tIns="0" rIns="0" bIns="0" rtlCol="0" anchor="ctr"/>
          <a:lstStyle/>
          <a:p>
            <a:pPr algn="ctr" indent="0" marL="0">
              <a:buNone/>
            </a:pPr>
            <a:r>
              <a:rPr lang="en-US" sz="950" dirty="0">
                <a:solidFill>
                  <a:srgbClr val="F4F4F5"/>
                </a:solidFill>
                <a:latin typeface="Calibri" pitchFamily="34" charset="0"/>
                <a:ea typeface="Calibri" pitchFamily="34" charset="-122"/>
                <a:cs typeface="Calibri" pitchFamily="34" charset="-120"/>
              </a:rPr>
              <a:t>Content-addressed cache  ·  Checkpointer  ·  Event log</a:t>
            </a:r>
            <a:endParaRPr lang="en-US" sz="950" dirty="0"/>
          </a:p>
        </p:txBody>
      </p:sp>
      <p:sp>
        <p:nvSpPr>
          <p:cNvPr id="52" name="Shape 50"/>
          <p:cNvSpPr/>
          <p:nvPr/>
        </p:nvSpPr>
        <p:spPr>
          <a:xfrm>
            <a:off x="548640" y="4434840"/>
            <a:ext cx="11064240" cy="1051560"/>
          </a:xfrm>
          <a:prstGeom prst="roundRect">
            <a:avLst>
              <a:gd name="adj" fmla="val 8696"/>
            </a:avLst>
          </a:prstGeom>
          <a:solidFill>
            <a:srgbClr val="16162B"/>
          </a:solidFill>
          <a:ln w="15875">
            <a:solidFill>
              <a:srgbClr val="22D3EE"/>
            </a:solidFill>
            <a:prstDash val="solid"/>
          </a:ln>
          <a:effectLst>
            <a:outerShdw sx="100000" sy="100000" kx="0" ky="0" algn="bl" rotWithShape="0" blurRad="228600" dist="38100" dir="5400000">
              <a:srgbClr val="000000">
                <a:alpha val="45000"/>
              </a:srgbClr>
            </a:outerShdw>
          </a:effectLst>
        </p:spPr>
      </p:sp>
      <p:sp>
        <p:nvSpPr>
          <p:cNvPr id="53" name="Text 51"/>
          <p:cNvSpPr/>
          <p:nvPr/>
        </p:nvSpPr>
        <p:spPr>
          <a:xfrm>
            <a:off x="548640" y="4489704"/>
            <a:ext cx="11064240" cy="274320"/>
          </a:xfrm>
          <a:prstGeom prst="rect">
            <a:avLst/>
          </a:prstGeom>
          <a:noFill/>
          <a:ln/>
        </p:spPr>
        <p:txBody>
          <a:bodyPr wrap="square" lIns="0" tIns="0" rIns="0" bIns="0" rtlCol="0" anchor="ctr"/>
          <a:lstStyle/>
          <a:p>
            <a:pPr algn="ctr" indent="0" marL="0">
              <a:buNone/>
            </a:pPr>
            <a:r>
              <a:rPr lang="en-US" sz="1050" b="1" dirty="0">
                <a:solidFill>
                  <a:srgbClr val="22D3EE"/>
                </a:solidFill>
                <a:latin typeface="Calibri" pitchFamily="34" charset="0"/>
                <a:ea typeface="Calibri" pitchFamily="34" charset="-122"/>
                <a:cs typeface="Calibri" pitchFamily="34" charset="-120"/>
              </a:rPr>
              <a:t>OUTPUT</a:t>
            </a:r>
            <a:endParaRPr lang="en-US" sz="1050" dirty="0"/>
          </a:p>
        </p:txBody>
      </p:sp>
      <p:sp>
        <p:nvSpPr>
          <p:cNvPr id="54" name="Shape 52"/>
          <p:cNvSpPr/>
          <p:nvPr/>
        </p:nvSpPr>
        <p:spPr>
          <a:xfrm>
            <a:off x="713232" y="4800600"/>
            <a:ext cx="2103120" cy="384048"/>
          </a:xfrm>
          <a:prstGeom prst="roundRect">
            <a:avLst>
              <a:gd name="adj" fmla="val 16667"/>
            </a:avLst>
          </a:prstGeom>
          <a:solidFill>
            <a:srgbClr val="1C1C34"/>
          </a:solidFill>
          <a:ln w="9525">
            <a:solidFill>
              <a:srgbClr val="34345A"/>
            </a:solidFill>
            <a:prstDash val="solid"/>
          </a:ln>
        </p:spPr>
      </p:sp>
      <p:sp>
        <p:nvSpPr>
          <p:cNvPr id="55" name="Text 53"/>
          <p:cNvSpPr/>
          <p:nvPr/>
        </p:nvSpPr>
        <p:spPr>
          <a:xfrm>
            <a:off x="713232" y="4800600"/>
            <a:ext cx="2103120" cy="384048"/>
          </a:xfrm>
          <a:prstGeom prst="rect">
            <a:avLst/>
          </a:prstGeom>
          <a:noFill/>
          <a:ln/>
        </p:spPr>
        <p:txBody>
          <a:bodyPr wrap="square" lIns="0" tIns="0" rIns="0" bIns="0" rtlCol="0" anchor="ctr"/>
          <a:lstStyle/>
          <a:p>
            <a:pPr algn="ctr" indent="0" marL="0">
              <a:buNone/>
            </a:pPr>
            <a:r>
              <a:rPr lang="en-US" sz="950" dirty="0">
                <a:solidFill>
                  <a:srgbClr val="22D3EE"/>
                </a:solidFill>
                <a:latin typeface="Calibri" pitchFamily="34" charset="0"/>
                <a:ea typeface="Calibri" pitchFamily="34" charset="-122"/>
                <a:cs typeface="Calibri" pitchFamily="34" charset="-120"/>
              </a:rPr>
              <a:t>Reflection / RARR</a:t>
            </a:r>
            <a:endParaRPr lang="en-US" sz="950" dirty="0"/>
          </a:p>
        </p:txBody>
      </p:sp>
      <p:sp>
        <p:nvSpPr>
          <p:cNvPr id="56" name="Shape 54"/>
          <p:cNvSpPr/>
          <p:nvPr/>
        </p:nvSpPr>
        <p:spPr>
          <a:xfrm>
            <a:off x="2926080" y="4800600"/>
            <a:ext cx="2103120" cy="384048"/>
          </a:xfrm>
          <a:prstGeom prst="roundRect">
            <a:avLst>
              <a:gd name="adj" fmla="val 16667"/>
            </a:avLst>
          </a:prstGeom>
          <a:solidFill>
            <a:srgbClr val="1C1C34"/>
          </a:solidFill>
          <a:ln w="9525">
            <a:solidFill>
              <a:srgbClr val="34345A"/>
            </a:solidFill>
            <a:prstDash val="solid"/>
          </a:ln>
        </p:spPr>
      </p:sp>
      <p:sp>
        <p:nvSpPr>
          <p:cNvPr id="57" name="Text 55"/>
          <p:cNvSpPr/>
          <p:nvPr/>
        </p:nvSpPr>
        <p:spPr>
          <a:xfrm>
            <a:off x="2926080" y="4800600"/>
            <a:ext cx="2103120" cy="384048"/>
          </a:xfrm>
          <a:prstGeom prst="rect">
            <a:avLst/>
          </a:prstGeom>
          <a:noFill/>
          <a:ln/>
        </p:spPr>
        <p:txBody>
          <a:bodyPr wrap="square" lIns="0" tIns="0" rIns="0" bIns="0" rtlCol="0" anchor="ctr"/>
          <a:lstStyle/>
          <a:p>
            <a:pPr algn="ctr" indent="0" marL="0">
              <a:buNone/>
            </a:pPr>
            <a:r>
              <a:rPr lang="en-US" sz="950" dirty="0">
                <a:solidFill>
                  <a:srgbClr val="22D3EE"/>
                </a:solidFill>
                <a:latin typeface="Calibri" pitchFamily="34" charset="0"/>
                <a:ea typeface="Calibri" pitchFamily="34" charset="-122"/>
                <a:cs typeface="Calibri" pitchFamily="34" charset="-120"/>
              </a:rPr>
              <a:t>Citation Engine</a:t>
            </a:r>
            <a:endParaRPr lang="en-US" sz="950" dirty="0"/>
          </a:p>
        </p:txBody>
      </p:sp>
      <p:sp>
        <p:nvSpPr>
          <p:cNvPr id="58" name="Shape 56"/>
          <p:cNvSpPr/>
          <p:nvPr/>
        </p:nvSpPr>
        <p:spPr>
          <a:xfrm>
            <a:off x="5138928" y="4800600"/>
            <a:ext cx="2103120" cy="384048"/>
          </a:xfrm>
          <a:prstGeom prst="roundRect">
            <a:avLst>
              <a:gd name="adj" fmla="val 16667"/>
            </a:avLst>
          </a:prstGeom>
          <a:solidFill>
            <a:srgbClr val="1C1C34"/>
          </a:solidFill>
          <a:ln w="9525">
            <a:solidFill>
              <a:srgbClr val="34345A"/>
            </a:solidFill>
            <a:prstDash val="solid"/>
          </a:ln>
        </p:spPr>
      </p:sp>
      <p:sp>
        <p:nvSpPr>
          <p:cNvPr id="59" name="Text 57"/>
          <p:cNvSpPr/>
          <p:nvPr/>
        </p:nvSpPr>
        <p:spPr>
          <a:xfrm>
            <a:off x="5138928" y="4800600"/>
            <a:ext cx="2103120" cy="384048"/>
          </a:xfrm>
          <a:prstGeom prst="rect">
            <a:avLst/>
          </a:prstGeom>
          <a:noFill/>
          <a:ln/>
        </p:spPr>
        <p:txBody>
          <a:bodyPr wrap="square" lIns="0" tIns="0" rIns="0" bIns="0" rtlCol="0" anchor="ctr"/>
          <a:lstStyle/>
          <a:p>
            <a:pPr algn="ctr" indent="0" marL="0">
              <a:buNone/>
            </a:pPr>
            <a:r>
              <a:rPr lang="en-US" sz="950" dirty="0">
                <a:solidFill>
                  <a:srgbClr val="22D3EE"/>
                </a:solidFill>
                <a:latin typeface="Calibri" pitchFamily="34" charset="0"/>
                <a:ea typeface="Calibri" pitchFamily="34" charset="-122"/>
                <a:cs typeface="Calibri" pitchFamily="34" charset="-120"/>
              </a:rPr>
              <a:t>Report Generator</a:t>
            </a:r>
            <a:endParaRPr lang="en-US" sz="950" dirty="0"/>
          </a:p>
        </p:txBody>
      </p:sp>
      <p:sp>
        <p:nvSpPr>
          <p:cNvPr id="60" name="Shape 58"/>
          <p:cNvSpPr/>
          <p:nvPr/>
        </p:nvSpPr>
        <p:spPr>
          <a:xfrm>
            <a:off x="7351776" y="4800600"/>
            <a:ext cx="2011680" cy="384048"/>
          </a:xfrm>
          <a:prstGeom prst="roundRect">
            <a:avLst>
              <a:gd name="adj" fmla="val 16667"/>
            </a:avLst>
          </a:prstGeom>
          <a:solidFill>
            <a:srgbClr val="1C1C34"/>
          </a:solidFill>
          <a:ln w="9525">
            <a:solidFill>
              <a:srgbClr val="34345A"/>
            </a:solidFill>
            <a:prstDash val="solid"/>
          </a:ln>
        </p:spPr>
      </p:sp>
      <p:sp>
        <p:nvSpPr>
          <p:cNvPr id="61" name="Text 59"/>
          <p:cNvSpPr/>
          <p:nvPr/>
        </p:nvSpPr>
        <p:spPr>
          <a:xfrm>
            <a:off x="7351776" y="4800600"/>
            <a:ext cx="2011680" cy="384048"/>
          </a:xfrm>
          <a:prstGeom prst="rect">
            <a:avLst/>
          </a:prstGeom>
          <a:noFill/>
          <a:ln/>
        </p:spPr>
        <p:txBody>
          <a:bodyPr wrap="square" lIns="0" tIns="0" rIns="0" bIns="0" rtlCol="0" anchor="ctr"/>
          <a:lstStyle/>
          <a:p>
            <a:pPr algn="ctr" indent="0" marL="0">
              <a:buNone/>
            </a:pPr>
            <a:r>
              <a:rPr lang="en-US" sz="950" dirty="0">
                <a:solidFill>
                  <a:srgbClr val="22D3EE"/>
                </a:solidFill>
                <a:latin typeface="Calibri" pitchFamily="34" charset="0"/>
                <a:ea typeface="Calibri" pitchFamily="34" charset="-122"/>
                <a:cs typeface="Calibri" pitchFamily="34" charset="-120"/>
              </a:rPr>
              <a:t>FastAPI  +  SSE</a:t>
            </a:r>
            <a:endParaRPr lang="en-US" sz="950" dirty="0"/>
          </a:p>
        </p:txBody>
      </p:sp>
      <p:sp>
        <p:nvSpPr>
          <p:cNvPr id="62" name="Shape 60"/>
          <p:cNvSpPr/>
          <p:nvPr/>
        </p:nvSpPr>
        <p:spPr>
          <a:xfrm>
            <a:off x="9473184" y="4800600"/>
            <a:ext cx="1975104" cy="384048"/>
          </a:xfrm>
          <a:prstGeom prst="roundRect">
            <a:avLst>
              <a:gd name="adj" fmla="val 16667"/>
            </a:avLst>
          </a:prstGeom>
          <a:solidFill>
            <a:srgbClr val="1C1C34"/>
          </a:solidFill>
          <a:ln w="9525">
            <a:solidFill>
              <a:srgbClr val="34345A"/>
            </a:solidFill>
            <a:prstDash val="solid"/>
          </a:ln>
        </p:spPr>
      </p:sp>
      <p:sp>
        <p:nvSpPr>
          <p:cNvPr id="63" name="Text 61"/>
          <p:cNvSpPr/>
          <p:nvPr/>
        </p:nvSpPr>
        <p:spPr>
          <a:xfrm>
            <a:off x="9473184" y="4800600"/>
            <a:ext cx="1975104" cy="384048"/>
          </a:xfrm>
          <a:prstGeom prst="rect">
            <a:avLst/>
          </a:prstGeom>
          <a:noFill/>
          <a:ln/>
        </p:spPr>
        <p:txBody>
          <a:bodyPr wrap="square" lIns="0" tIns="0" rIns="0" bIns="0" rtlCol="0" anchor="ctr"/>
          <a:lstStyle/>
          <a:p>
            <a:pPr algn="ctr" indent="0" marL="0">
              <a:buNone/>
            </a:pPr>
            <a:r>
              <a:rPr lang="en-US" sz="950" dirty="0">
                <a:solidFill>
                  <a:srgbClr val="22D3EE"/>
                </a:solidFill>
                <a:latin typeface="Calibri" pitchFamily="34" charset="0"/>
                <a:ea typeface="Calibri" pitchFamily="34" charset="-122"/>
                <a:cs typeface="Calibri" pitchFamily="34" charset="-120"/>
              </a:rPr>
              <a:t>Next.js Dashboard</a:t>
            </a:r>
            <a:endParaRPr lang="en-US" sz="950" dirty="0"/>
          </a:p>
        </p:txBody>
      </p:sp>
      <p:sp>
        <p:nvSpPr>
          <p:cNvPr id="64" name="Text 62"/>
          <p:cNvSpPr/>
          <p:nvPr/>
        </p:nvSpPr>
        <p:spPr>
          <a:xfrm>
            <a:off x="548640" y="5715000"/>
            <a:ext cx="11064240" cy="457200"/>
          </a:xfrm>
          <a:prstGeom prst="rect">
            <a:avLst/>
          </a:prstGeom>
          <a:noFill/>
          <a:ln/>
        </p:spPr>
        <p:txBody>
          <a:bodyPr wrap="square" lIns="0" tIns="0" rIns="0" bIns="0" rtlCol="0" anchor="ctr"/>
          <a:lstStyle/>
          <a:p>
            <a:pPr indent="0" marL="0">
              <a:buNone/>
            </a:pPr>
            <a:r>
              <a:rPr lang="en-US" sz="1150" i="1" dirty="0">
                <a:solidFill>
                  <a:srgbClr val="9CA3AF"/>
                </a:solidFill>
                <a:latin typeface="Calibri" pitchFamily="34" charset="0"/>
                <a:ea typeface="Calibri" pitchFamily="34" charset="-122"/>
                <a:cs typeface="Calibri" pitchFamily="34" charset="-120"/>
              </a:rPr>
              <a:t>Dynamic map-reduce: every fan-out key uses an explicit operator.add reducer — LangGraph's default is last-write-wins, which silently discards parallel results.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END-TO-END PIPELINE</a:t>
            </a:r>
            <a:endParaRPr lang="en-US" sz="11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3000" b="1" dirty="0">
                <a:solidFill>
                  <a:srgbClr val="F4F4F5"/>
                </a:solidFill>
                <a:latin typeface="Calibri" pitchFamily="34" charset="0"/>
                <a:ea typeface="Calibri" pitchFamily="34" charset="-122"/>
                <a:cs typeface="Calibri" pitchFamily="34" charset="-120"/>
              </a:rPr>
              <a:t>From question to calibrated verdict</a:t>
            </a:r>
            <a:endParaRPr lang="en-US" sz="3000" dirty="0"/>
          </a:p>
        </p:txBody>
      </p:sp>
      <p:sp>
        <p:nvSpPr>
          <p:cNvPr id="4" name="Shape 2"/>
          <p:cNvSpPr/>
          <p:nvPr/>
        </p:nvSpPr>
        <p:spPr>
          <a:xfrm>
            <a:off x="548640" y="1371600"/>
            <a:ext cx="2578608" cy="1298448"/>
          </a:xfrm>
          <a:prstGeom prst="roundRect">
            <a:avLst>
              <a:gd name="adj" fmla="val 8451"/>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5" name="Shape 3"/>
          <p:cNvSpPr/>
          <p:nvPr/>
        </p:nvSpPr>
        <p:spPr>
          <a:xfrm>
            <a:off x="731520" y="1536192"/>
            <a:ext cx="310896" cy="310896"/>
          </a:xfrm>
          <a:prstGeom prst="ellipse">
            <a:avLst/>
          </a:prstGeom>
          <a:solidFill>
            <a:srgbClr val="8B5CF6"/>
          </a:solidFill>
          <a:ln w="12700">
            <a:solidFill>
              <a:srgbClr val="8B5CF6"/>
            </a:solidFill>
            <a:prstDash val="solid"/>
          </a:ln>
        </p:spPr>
      </p:sp>
      <p:sp>
        <p:nvSpPr>
          <p:cNvPr id="6" name="Text 4"/>
          <p:cNvSpPr/>
          <p:nvPr/>
        </p:nvSpPr>
        <p:spPr>
          <a:xfrm>
            <a:off x="731520" y="153619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33856" y="1536192"/>
            <a:ext cx="1828800" cy="292608"/>
          </a:xfrm>
          <a:prstGeom prst="rect">
            <a:avLst/>
          </a:prstGeom>
          <a:noFill/>
          <a:ln/>
        </p:spPr>
        <p:txBody>
          <a:bodyPr wrap="square" lIns="0" tIns="0" rIns="0" bIns="0" rtlCol="0" anchor="ctr"/>
          <a:lstStyle/>
          <a:p>
            <a:pPr indent="0" marL="0">
              <a:buNone/>
            </a:pPr>
            <a:r>
              <a:rPr lang="en-US" sz="1400" b="1" dirty="0">
                <a:solidFill>
                  <a:srgbClr val="8B5CF6"/>
                </a:solidFill>
                <a:latin typeface="Calibri" pitchFamily="34" charset="0"/>
                <a:ea typeface="Calibri" pitchFamily="34" charset="-122"/>
                <a:cs typeface="Calibri" pitchFamily="34" charset="-120"/>
              </a:rPr>
              <a:t>Plan</a:t>
            </a:r>
            <a:endParaRPr lang="en-US" sz="1400" dirty="0"/>
          </a:p>
        </p:txBody>
      </p:sp>
      <p:sp>
        <p:nvSpPr>
          <p:cNvPr id="8" name="Text 6"/>
          <p:cNvSpPr/>
          <p:nvPr/>
        </p:nvSpPr>
        <p:spPr>
          <a:xfrm>
            <a:off x="731520" y="1938528"/>
            <a:ext cx="2240280" cy="59436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Decompose into research questions</a:t>
            </a:r>
            <a:endParaRPr lang="en-US" sz="1050" dirty="0"/>
          </a:p>
        </p:txBody>
      </p:sp>
      <p:sp>
        <p:nvSpPr>
          <p:cNvPr id="9" name="Shape 7"/>
          <p:cNvSpPr/>
          <p:nvPr/>
        </p:nvSpPr>
        <p:spPr>
          <a:xfrm>
            <a:off x="3182112" y="1947672"/>
            <a:ext cx="201168" cy="146304"/>
          </a:xfrm>
          <a:prstGeom prst="rightArrow">
            <a:avLst/>
          </a:prstGeom>
          <a:solidFill>
            <a:srgbClr val="3F3F5E"/>
          </a:solidFill>
          <a:ln w="12700">
            <a:solidFill>
              <a:srgbClr val="3F3F5E"/>
            </a:solidFill>
            <a:prstDash val="solid"/>
          </a:ln>
        </p:spPr>
      </p:sp>
      <p:sp>
        <p:nvSpPr>
          <p:cNvPr id="10" name="Shape 8"/>
          <p:cNvSpPr/>
          <p:nvPr/>
        </p:nvSpPr>
        <p:spPr>
          <a:xfrm>
            <a:off x="3438144" y="1371600"/>
            <a:ext cx="2578608" cy="1298448"/>
          </a:xfrm>
          <a:prstGeom prst="roundRect">
            <a:avLst>
              <a:gd name="adj" fmla="val 8451"/>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11" name="Shape 9"/>
          <p:cNvSpPr/>
          <p:nvPr/>
        </p:nvSpPr>
        <p:spPr>
          <a:xfrm>
            <a:off x="3621024" y="1536192"/>
            <a:ext cx="310896" cy="310896"/>
          </a:xfrm>
          <a:prstGeom prst="ellipse">
            <a:avLst/>
          </a:prstGeom>
          <a:solidFill>
            <a:srgbClr val="22D3EE"/>
          </a:solidFill>
          <a:ln w="12700">
            <a:solidFill>
              <a:srgbClr val="22D3EE"/>
            </a:solidFill>
            <a:prstDash val="solid"/>
          </a:ln>
        </p:spPr>
      </p:sp>
      <p:sp>
        <p:nvSpPr>
          <p:cNvPr id="12" name="Text 10"/>
          <p:cNvSpPr/>
          <p:nvPr/>
        </p:nvSpPr>
        <p:spPr>
          <a:xfrm>
            <a:off x="3621024" y="153619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023360" y="1536192"/>
            <a:ext cx="1828800" cy="292608"/>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Research</a:t>
            </a:r>
            <a:endParaRPr lang="en-US" sz="1400" dirty="0"/>
          </a:p>
        </p:txBody>
      </p:sp>
      <p:sp>
        <p:nvSpPr>
          <p:cNvPr id="14" name="Text 12"/>
          <p:cNvSpPr/>
          <p:nvPr/>
        </p:nvSpPr>
        <p:spPr>
          <a:xfrm>
            <a:off x="3621024" y="1938528"/>
            <a:ext cx="2240280" cy="59436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Parallel agents, 8 source types</a:t>
            </a:r>
            <a:endParaRPr lang="en-US" sz="1050" dirty="0"/>
          </a:p>
        </p:txBody>
      </p:sp>
      <p:sp>
        <p:nvSpPr>
          <p:cNvPr id="15" name="Shape 13"/>
          <p:cNvSpPr/>
          <p:nvPr/>
        </p:nvSpPr>
        <p:spPr>
          <a:xfrm>
            <a:off x="6071616" y="1947672"/>
            <a:ext cx="201168" cy="146304"/>
          </a:xfrm>
          <a:prstGeom prst="rightArrow">
            <a:avLst/>
          </a:prstGeom>
          <a:solidFill>
            <a:srgbClr val="3F3F5E"/>
          </a:solidFill>
          <a:ln w="12700">
            <a:solidFill>
              <a:srgbClr val="3F3F5E"/>
            </a:solidFill>
            <a:prstDash val="solid"/>
          </a:ln>
        </p:spPr>
      </p:sp>
      <p:sp>
        <p:nvSpPr>
          <p:cNvPr id="16" name="Shape 14"/>
          <p:cNvSpPr/>
          <p:nvPr/>
        </p:nvSpPr>
        <p:spPr>
          <a:xfrm>
            <a:off x="6327648" y="1371600"/>
            <a:ext cx="2578608" cy="1298448"/>
          </a:xfrm>
          <a:prstGeom prst="roundRect">
            <a:avLst>
              <a:gd name="adj" fmla="val 8451"/>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17" name="Shape 15"/>
          <p:cNvSpPr/>
          <p:nvPr/>
        </p:nvSpPr>
        <p:spPr>
          <a:xfrm>
            <a:off x="6510528" y="1536192"/>
            <a:ext cx="310896" cy="310896"/>
          </a:xfrm>
          <a:prstGeom prst="ellipse">
            <a:avLst/>
          </a:prstGeom>
          <a:solidFill>
            <a:srgbClr val="22D3EE"/>
          </a:solidFill>
          <a:ln w="12700">
            <a:solidFill>
              <a:srgbClr val="22D3EE"/>
            </a:solidFill>
            <a:prstDash val="solid"/>
          </a:ln>
        </p:spPr>
      </p:sp>
      <p:sp>
        <p:nvSpPr>
          <p:cNvPr id="18" name="Text 16"/>
          <p:cNvSpPr/>
          <p:nvPr/>
        </p:nvSpPr>
        <p:spPr>
          <a:xfrm>
            <a:off x="6510528" y="153619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912864" y="1536192"/>
            <a:ext cx="1828800" cy="292608"/>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Draft</a:t>
            </a:r>
            <a:endParaRPr lang="en-US" sz="1400" dirty="0"/>
          </a:p>
        </p:txBody>
      </p:sp>
      <p:sp>
        <p:nvSpPr>
          <p:cNvPr id="20" name="Text 18"/>
          <p:cNvSpPr/>
          <p:nvPr/>
        </p:nvSpPr>
        <p:spPr>
          <a:xfrm>
            <a:off x="6510528" y="1938528"/>
            <a:ext cx="2240280" cy="59436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Synthesise the report under test</a:t>
            </a:r>
            <a:endParaRPr lang="en-US" sz="1050" dirty="0"/>
          </a:p>
        </p:txBody>
      </p:sp>
      <p:sp>
        <p:nvSpPr>
          <p:cNvPr id="21" name="Shape 19"/>
          <p:cNvSpPr/>
          <p:nvPr/>
        </p:nvSpPr>
        <p:spPr>
          <a:xfrm>
            <a:off x="8961120" y="1947672"/>
            <a:ext cx="201168" cy="146304"/>
          </a:xfrm>
          <a:prstGeom prst="rightArrow">
            <a:avLst/>
          </a:prstGeom>
          <a:solidFill>
            <a:srgbClr val="3F3F5E"/>
          </a:solidFill>
          <a:ln w="12700">
            <a:solidFill>
              <a:srgbClr val="3F3F5E"/>
            </a:solidFill>
            <a:prstDash val="solid"/>
          </a:ln>
        </p:spPr>
      </p:sp>
      <p:sp>
        <p:nvSpPr>
          <p:cNvPr id="22" name="Shape 20"/>
          <p:cNvSpPr/>
          <p:nvPr/>
        </p:nvSpPr>
        <p:spPr>
          <a:xfrm>
            <a:off x="9217152" y="1371600"/>
            <a:ext cx="2578608" cy="1298448"/>
          </a:xfrm>
          <a:prstGeom prst="roundRect">
            <a:avLst>
              <a:gd name="adj" fmla="val 8451"/>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23" name="Shape 21"/>
          <p:cNvSpPr/>
          <p:nvPr/>
        </p:nvSpPr>
        <p:spPr>
          <a:xfrm>
            <a:off x="9400032" y="1536192"/>
            <a:ext cx="310896" cy="310896"/>
          </a:xfrm>
          <a:prstGeom prst="ellipse">
            <a:avLst/>
          </a:prstGeom>
          <a:solidFill>
            <a:srgbClr val="FBBF24"/>
          </a:solidFill>
          <a:ln w="12700">
            <a:solidFill>
              <a:srgbClr val="FBBF24"/>
            </a:solidFill>
            <a:prstDash val="solid"/>
          </a:ln>
        </p:spPr>
      </p:sp>
      <p:sp>
        <p:nvSpPr>
          <p:cNvPr id="24" name="Text 22"/>
          <p:cNvSpPr/>
          <p:nvPr/>
        </p:nvSpPr>
        <p:spPr>
          <a:xfrm>
            <a:off x="9400032" y="153619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9802368" y="1536192"/>
            <a:ext cx="1828800" cy="292608"/>
          </a:xfrm>
          <a:prstGeom prst="rect">
            <a:avLst/>
          </a:prstGeom>
          <a:noFill/>
          <a:ln/>
        </p:spPr>
        <p:txBody>
          <a:bodyPr wrap="square" lIns="0" tIns="0" rIns="0" bIns="0" rtlCol="0" anchor="ctr"/>
          <a:lstStyle/>
          <a:p>
            <a:pPr indent="0" marL="0">
              <a:buNone/>
            </a:pPr>
            <a:r>
              <a:rPr lang="en-US" sz="1400" b="1" dirty="0">
                <a:solidFill>
                  <a:srgbClr val="FBBF24"/>
                </a:solidFill>
                <a:latin typeface="Calibri" pitchFamily="34" charset="0"/>
                <a:ea typeface="Calibri" pitchFamily="34" charset="-122"/>
                <a:cs typeface="Calibri" pitchFamily="34" charset="-120"/>
              </a:rPr>
              <a:t>Decompose</a:t>
            </a:r>
            <a:endParaRPr lang="en-US" sz="1400" dirty="0"/>
          </a:p>
        </p:txBody>
      </p:sp>
      <p:sp>
        <p:nvSpPr>
          <p:cNvPr id="26" name="Text 24"/>
          <p:cNvSpPr/>
          <p:nvPr/>
        </p:nvSpPr>
        <p:spPr>
          <a:xfrm>
            <a:off x="9400032" y="1938528"/>
            <a:ext cx="2240280" cy="59436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Atomic, decontextualised claims</a:t>
            </a:r>
            <a:endParaRPr lang="en-US" sz="1050" dirty="0"/>
          </a:p>
        </p:txBody>
      </p:sp>
      <p:sp>
        <p:nvSpPr>
          <p:cNvPr id="27" name="Shape 25"/>
          <p:cNvSpPr/>
          <p:nvPr/>
        </p:nvSpPr>
        <p:spPr>
          <a:xfrm>
            <a:off x="548640" y="3063240"/>
            <a:ext cx="2578608" cy="1298448"/>
          </a:xfrm>
          <a:prstGeom prst="roundRect">
            <a:avLst>
              <a:gd name="adj" fmla="val 8451"/>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28" name="Shape 26"/>
          <p:cNvSpPr/>
          <p:nvPr/>
        </p:nvSpPr>
        <p:spPr>
          <a:xfrm>
            <a:off x="731520" y="3227832"/>
            <a:ext cx="310896" cy="310896"/>
          </a:xfrm>
          <a:prstGeom prst="ellipse">
            <a:avLst/>
          </a:prstGeom>
          <a:solidFill>
            <a:srgbClr val="FBBF24"/>
          </a:solidFill>
          <a:ln w="12700">
            <a:solidFill>
              <a:srgbClr val="FBBF24"/>
            </a:solidFill>
            <a:prstDash val="solid"/>
          </a:ln>
        </p:spPr>
      </p:sp>
      <p:sp>
        <p:nvSpPr>
          <p:cNvPr id="29" name="Text 27"/>
          <p:cNvSpPr/>
          <p:nvPr/>
        </p:nvSpPr>
        <p:spPr>
          <a:xfrm>
            <a:off x="731520" y="322783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1133856" y="3227832"/>
            <a:ext cx="1828800" cy="292608"/>
          </a:xfrm>
          <a:prstGeom prst="rect">
            <a:avLst/>
          </a:prstGeom>
          <a:noFill/>
          <a:ln/>
        </p:spPr>
        <p:txBody>
          <a:bodyPr wrap="square" lIns="0" tIns="0" rIns="0" bIns="0" rtlCol="0" anchor="ctr"/>
          <a:lstStyle/>
          <a:p>
            <a:pPr indent="0" marL="0">
              <a:buNone/>
            </a:pPr>
            <a:r>
              <a:rPr lang="en-US" sz="1400" b="1" dirty="0">
                <a:solidFill>
                  <a:srgbClr val="FBBF24"/>
                </a:solidFill>
                <a:latin typeface="Calibri" pitchFamily="34" charset="0"/>
                <a:ea typeface="Calibri" pitchFamily="34" charset="-122"/>
                <a:cs typeface="Calibri" pitchFamily="34" charset="-120"/>
              </a:rPr>
              <a:t>Cluster</a:t>
            </a:r>
            <a:endParaRPr lang="en-US" sz="1400" dirty="0"/>
          </a:p>
        </p:txBody>
      </p:sp>
      <p:sp>
        <p:nvSpPr>
          <p:cNvPr id="31" name="Text 29"/>
          <p:cNvSpPr/>
          <p:nvPr/>
        </p:nvSpPr>
        <p:spPr>
          <a:xfrm>
            <a:off x="731520" y="3630168"/>
            <a:ext cx="2240280" cy="59436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Collapse correlated evidence</a:t>
            </a:r>
            <a:endParaRPr lang="en-US" sz="1050" dirty="0"/>
          </a:p>
        </p:txBody>
      </p:sp>
      <p:sp>
        <p:nvSpPr>
          <p:cNvPr id="32" name="Shape 30"/>
          <p:cNvSpPr/>
          <p:nvPr/>
        </p:nvSpPr>
        <p:spPr>
          <a:xfrm>
            <a:off x="3182112" y="3639312"/>
            <a:ext cx="201168" cy="146304"/>
          </a:xfrm>
          <a:prstGeom prst="rightArrow">
            <a:avLst/>
          </a:prstGeom>
          <a:solidFill>
            <a:srgbClr val="3F3F5E"/>
          </a:solidFill>
          <a:ln w="12700">
            <a:solidFill>
              <a:srgbClr val="3F3F5E"/>
            </a:solidFill>
            <a:prstDash val="solid"/>
          </a:ln>
        </p:spPr>
      </p:sp>
      <p:sp>
        <p:nvSpPr>
          <p:cNvPr id="33" name="Shape 31"/>
          <p:cNvSpPr/>
          <p:nvPr/>
        </p:nvSpPr>
        <p:spPr>
          <a:xfrm>
            <a:off x="3438144" y="3063240"/>
            <a:ext cx="2578608" cy="1298448"/>
          </a:xfrm>
          <a:prstGeom prst="roundRect">
            <a:avLst>
              <a:gd name="adj" fmla="val 8451"/>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34" name="Shape 32"/>
          <p:cNvSpPr/>
          <p:nvPr/>
        </p:nvSpPr>
        <p:spPr>
          <a:xfrm>
            <a:off x="3621024" y="3227832"/>
            <a:ext cx="310896" cy="310896"/>
          </a:xfrm>
          <a:prstGeom prst="ellipse">
            <a:avLst/>
          </a:prstGeom>
          <a:solidFill>
            <a:srgbClr val="34D399"/>
          </a:solidFill>
          <a:ln w="12700">
            <a:solidFill>
              <a:srgbClr val="34D399"/>
            </a:solidFill>
            <a:prstDash val="solid"/>
          </a:ln>
        </p:spPr>
      </p:sp>
      <p:sp>
        <p:nvSpPr>
          <p:cNvPr id="35" name="Text 33"/>
          <p:cNvSpPr/>
          <p:nvPr/>
        </p:nvSpPr>
        <p:spPr>
          <a:xfrm>
            <a:off x="3621024" y="322783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6</a:t>
            </a:r>
            <a:endParaRPr lang="en-US" sz="1300" dirty="0"/>
          </a:p>
        </p:txBody>
      </p:sp>
      <p:sp>
        <p:nvSpPr>
          <p:cNvPr id="36" name="Text 34"/>
          <p:cNvSpPr/>
          <p:nvPr/>
        </p:nvSpPr>
        <p:spPr>
          <a:xfrm>
            <a:off x="4023360" y="3227832"/>
            <a:ext cx="1828800" cy="292608"/>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Adjudicate</a:t>
            </a:r>
            <a:endParaRPr lang="en-US" sz="1400" dirty="0"/>
          </a:p>
        </p:txBody>
      </p:sp>
      <p:sp>
        <p:nvSpPr>
          <p:cNvPr id="37" name="Text 35"/>
          <p:cNvSpPr/>
          <p:nvPr/>
        </p:nvSpPr>
        <p:spPr>
          <a:xfrm>
            <a:off x="3621024" y="3630168"/>
            <a:ext cx="2240280" cy="59436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Advocate vs Sceptic, disjoint sets</a:t>
            </a:r>
            <a:endParaRPr lang="en-US" sz="1050" dirty="0"/>
          </a:p>
        </p:txBody>
      </p:sp>
      <p:sp>
        <p:nvSpPr>
          <p:cNvPr id="38" name="Shape 36"/>
          <p:cNvSpPr/>
          <p:nvPr/>
        </p:nvSpPr>
        <p:spPr>
          <a:xfrm>
            <a:off x="6071616" y="3639312"/>
            <a:ext cx="201168" cy="146304"/>
          </a:xfrm>
          <a:prstGeom prst="rightArrow">
            <a:avLst/>
          </a:prstGeom>
          <a:solidFill>
            <a:srgbClr val="3F3F5E"/>
          </a:solidFill>
          <a:ln w="12700">
            <a:solidFill>
              <a:srgbClr val="3F3F5E"/>
            </a:solidFill>
            <a:prstDash val="solid"/>
          </a:ln>
        </p:spPr>
      </p:sp>
      <p:sp>
        <p:nvSpPr>
          <p:cNvPr id="39" name="Shape 37"/>
          <p:cNvSpPr/>
          <p:nvPr/>
        </p:nvSpPr>
        <p:spPr>
          <a:xfrm>
            <a:off x="6327648" y="3063240"/>
            <a:ext cx="2578608" cy="1298448"/>
          </a:xfrm>
          <a:prstGeom prst="roundRect">
            <a:avLst>
              <a:gd name="adj" fmla="val 8451"/>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40" name="Shape 38"/>
          <p:cNvSpPr/>
          <p:nvPr/>
        </p:nvSpPr>
        <p:spPr>
          <a:xfrm>
            <a:off x="6510528" y="3227832"/>
            <a:ext cx="310896" cy="310896"/>
          </a:xfrm>
          <a:prstGeom prst="ellipse">
            <a:avLst/>
          </a:prstGeom>
          <a:solidFill>
            <a:srgbClr val="34D399"/>
          </a:solidFill>
          <a:ln w="12700">
            <a:solidFill>
              <a:srgbClr val="34D399"/>
            </a:solidFill>
            <a:prstDash val="solid"/>
          </a:ln>
        </p:spPr>
      </p:sp>
      <p:sp>
        <p:nvSpPr>
          <p:cNvPr id="41" name="Text 39"/>
          <p:cNvSpPr/>
          <p:nvPr/>
        </p:nvSpPr>
        <p:spPr>
          <a:xfrm>
            <a:off x="6510528" y="322783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7</a:t>
            </a:r>
            <a:endParaRPr lang="en-US" sz="1300" dirty="0"/>
          </a:p>
        </p:txBody>
      </p:sp>
      <p:sp>
        <p:nvSpPr>
          <p:cNvPr id="42" name="Text 40"/>
          <p:cNvSpPr/>
          <p:nvPr/>
        </p:nvSpPr>
        <p:spPr>
          <a:xfrm>
            <a:off x="6912864" y="3227832"/>
            <a:ext cx="1828800" cy="292608"/>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Calibrate</a:t>
            </a:r>
            <a:endParaRPr lang="en-US" sz="1400" dirty="0"/>
          </a:p>
        </p:txBody>
      </p:sp>
      <p:sp>
        <p:nvSpPr>
          <p:cNvPr id="43" name="Text 41"/>
          <p:cNvSpPr/>
          <p:nvPr/>
        </p:nvSpPr>
        <p:spPr>
          <a:xfrm>
            <a:off x="6510528" y="3630168"/>
            <a:ext cx="2240280" cy="59436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7 features → isotonic → score</a:t>
            </a:r>
            <a:endParaRPr lang="en-US" sz="1050" dirty="0"/>
          </a:p>
        </p:txBody>
      </p:sp>
      <p:sp>
        <p:nvSpPr>
          <p:cNvPr id="44" name="Shape 42"/>
          <p:cNvSpPr/>
          <p:nvPr/>
        </p:nvSpPr>
        <p:spPr>
          <a:xfrm>
            <a:off x="8961120" y="3639312"/>
            <a:ext cx="201168" cy="146304"/>
          </a:xfrm>
          <a:prstGeom prst="rightArrow">
            <a:avLst/>
          </a:prstGeom>
          <a:solidFill>
            <a:srgbClr val="3F3F5E"/>
          </a:solidFill>
          <a:ln w="12700">
            <a:solidFill>
              <a:srgbClr val="3F3F5E"/>
            </a:solidFill>
            <a:prstDash val="solid"/>
          </a:ln>
        </p:spPr>
      </p:sp>
      <p:sp>
        <p:nvSpPr>
          <p:cNvPr id="45" name="Shape 43"/>
          <p:cNvSpPr/>
          <p:nvPr/>
        </p:nvSpPr>
        <p:spPr>
          <a:xfrm>
            <a:off x="9217152" y="3063240"/>
            <a:ext cx="2578608" cy="1298448"/>
          </a:xfrm>
          <a:prstGeom prst="roundRect">
            <a:avLst>
              <a:gd name="adj" fmla="val 8451"/>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46" name="Shape 44"/>
          <p:cNvSpPr/>
          <p:nvPr/>
        </p:nvSpPr>
        <p:spPr>
          <a:xfrm>
            <a:off x="9400032" y="3227832"/>
            <a:ext cx="310896" cy="310896"/>
          </a:xfrm>
          <a:prstGeom prst="ellipse">
            <a:avLst/>
          </a:prstGeom>
          <a:solidFill>
            <a:srgbClr val="8B5CF6"/>
          </a:solidFill>
          <a:ln w="12700">
            <a:solidFill>
              <a:srgbClr val="8B5CF6"/>
            </a:solidFill>
            <a:prstDash val="solid"/>
          </a:ln>
        </p:spPr>
      </p:sp>
      <p:sp>
        <p:nvSpPr>
          <p:cNvPr id="47" name="Text 45"/>
          <p:cNvSpPr/>
          <p:nvPr/>
        </p:nvSpPr>
        <p:spPr>
          <a:xfrm>
            <a:off x="9400032" y="322783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8</a:t>
            </a:r>
            <a:endParaRPr lang="en-US" sz="1300" dirty="0"/>
          </a:p>
        </p:txBody>
      </p:sp>
      <p:sp>
        <p:nvSpPr>
          <p:cNvPr id="48" name="Text 46"/>
          <p:cNvSpPr/>
          <p:nvPr/>
        </p:nvSpPr>
        <p:spPr>
          <a:xfrm>
            <a:off x="9802368" y="3227832"/>
            <a:ext cx="1828800" cy="292608"/>
          </a:xfrm>
          <a:prstGeom prst="rect">
            <a:avLst/>
          </a:prstGeom>
          <a:noFill/>
          <a:ln/>
        </p:spPr>
        <p:txBody>
          <a:bodyPr wrap="square" lIns="0" tIns="0" rIns="0" bIns="0" rtlCol="0" anchor="ctr"/>
          <a:lstStyle/>
          <a:p>
            <a:pPr indent="0" marL="0">
              <a:buNone/>
            </a:pPr>
            <a:r>
              <a:rPr lang="en-US" sz="1400" b="1" dirty="0">
                <a:solidFill>
                  <a:srgbClr val="8B5CF6"/>
                </a:solidFill>
                <a:latin typeface="Calibri" pitchFamily="34" charset="0"/>
                <a:ea typeface="Calibri" pitchFamily="34" charset="-122"/>
                <a:cs typeface="Calibri" pitchFamily="34" charset="-120"/>
              </a:rPr>
              <a:t>Report</a:t>
            </a:r>
            <a:endParaRPr lang="en-US" sz="1400" dirty="0"/>
          </a:p>
        </p:txBody>
      </p:sp>
      <p:sp>
        <p:nvSpPr>
          <p:cNvPr id="49" name="Text 47"/>
          <p:cNvSpPr/>
          <p:nvPr/>
        </p:nvSpPr>
        <p:spPr>
          <a:xfrm>
            <a:off x="9400032" y="3630168"/>
            <a:ext cx="2240280" cy="59436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Citations + trust heatmap</a:t>
            </a:r>
            <a:endParaRPr lang="en-US" sz="1050" dirty="0"/>
          </a:p>
        </p:txBody>
      </p:sp>
      <p:sp>
        <p:nvSpPr>
          <p:cNvPr id="50" name="Shape 48"/>
          <p:cNvSpPr/>
          <p:nvPr/>
        </p:nvSpPr>
        <p:spPr>
          <a:xfrm>
            <a:off x="548640" y="4709160"/>
            <a:ext cx="11064240" cy="1371600"/>
          </a:xfrm>
          <a:prstGeom prst="roundRect">
            <a:avLst>
              <a:gd name="adj" fmla="val 8000"/>
            </a:avLst>
          </a:prstGeom>
          <a:solidFill>
            <a:srgbClr val="1C1C34"/>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51" name="Text 49"/>
          <p:cNvSpPr/>
          <p:nvPr/>
        </p:nvSpPr>
        <p:spPr>
          <a:xfrm>
            <a:off x="822960" y="4882896"/>
            <a:ext cx="4937760" cy="274320"/>
          </a:xfrm>
          <a:prstGeom prst="rect">
            <a:avLst/>
          </a:prstGeom>
          <a:noFill/>
          <a:ln/>
        </p:spPr>
        <p:txBody>
          <a:bodyPr wrap="square" lIns="0" tIns="0" rIns="0" bIns="0" rtlCol="0" anchor="ctr"/>
          <a:lstStyle/>
          <a:p>
            <a:pPr indent="0" marL="0">
              <a:buNone/>
            </a:pPr>
            <a:r>
              <a:rPr lang="en-US" sz="1350" b="1" dirty="0">
                <a:solidFill>
                  <a:srgbClr val="22D3EE"/>
                </a:solidFill>
                <a:latin typeface="Calibri" pitchFamily="34" charset="0"/>
                <a:ea typeface="Calibri" pitchFamily="34" charset="-122"/>
                <a:cs typeface="Calibri" pitchFamily="34" charset="-120"/>
              </a:rPr>
              <a:t>The step nobody else has: evidence independence</a:t>
            </a:r>
            <a:endParaRPr lang="en-US" sz="1350" dirty="0"/>
          </a:p>
        </p:txBody>
      </p:sp>
      <p:sp>
        <p:nvSpPr>
          <p:cNvPr id="52" name="Text 50"/>
          <p:cNvSpPr/>
          <p:nvPr/>
        </p:nvSpPr>
        <p:spPr>
          <a:xfrm>
            <a:off x="822960" y="5212080"/>
            <a:ext cx="6949440" cy="365760"/>
          </a:xfrm>
          <a:prstGeom prst="rect">
            <a:avLst/>
          </a:prstGeom>
          <a:noFill/>
          <a:ln/>
        </p:spPr>
        <p:txBody>
          <a:bodyPr wrap="square" lIns="0" tIns="0" rIns="0" bIns="0" rtlCol="0" anchor="ctr"/>
          <a:lstStyle/>
          <a:p>
            <a:pPr indent="0" marL="0">
              <a:buNone/>
            </a:pPr>
            <a:r>
              <a:rPr lang="en-US" sz="1150" dirty="0">
                <a:solidFill>
                  <a:srgbClr val="9CA3AF"/>
                </a:solidFill>
                <a:latin typeface="Calibri" pitchFamily="34" charset="0"/>
                <a:ea typeface="Calibri" pitchFamily="34" charset="-122"/>
                <a:cs typeface="Calibri" pitchFamily="34" charset="-120"/>
              </a:rPr>
              <a:t>SimHash near-duplicates  ·  embedding cosine  ·  same-domain  ·  verbatim-span quotation  →  union-find</a:t>
            </a:r>
            <a:endParaRPr lang="en-US" sz="1150" dirty="0"/>
          </a:p>
        </p:txBody>
      </p:sp>
      <p:sp>
        <p:nvSpPr>
          <p:cNvPr id="53" name="Text 51"/>
          <p:cNvSpPr/>
          <p:nvPr/>
        </p:nvSpPr>
        <p:spPr>
          <a:xfrm>
            <a:off x="822960" y="5596128"/>
            <a:ext cx="219456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Measured on a live run:</a:t>
            </a:r>
            <a:endParaRPr lang="en-US" sz="1100" dirty="0"/>
          </a:p>
        </p:txBody>
      </p:sp>
      <p:sp>
        <p:nvSpPr>
          <p:cNvPr id="54" name="Text 52"/>
          <p:cNvSpPr/>
          <p:nvPr/>
        </p:nvSpPr>
        <p:spPr>
          <a:xfrm>
            <a:off x="2606040" y="5596128"/>
            <a:ext cx="4572000" cy="274320"/>
          </a:xfrm>
          <a:prstGeom prst="rect">
            <a:avLst/>
          </a:prstGeom>
          <a:noFill/>
          <a:ln/>
        </p:spPr>
        <p:txBody>
          <a:bodyPr wrap="square" lIns="0" tIns="0" rIns="0" bIns="0" rtlCol="0" anchor="ctr"/>
          <a:lstStyle/>
          <a:p>
            <a:pPr indent="0" marL="0">
              <a:buNone/>
            </a:pPr>
            <a:r>
              <a:rPr lang="en-US" sz="1150" b="1" dirty="0">
                <a:solidFill>
                  <a:srgbClr val="34D399"/>
                </a:solidFill>
                <a:latin typeface="Calibri" pitchFamily="34" charset="0"/>
                <a:ea typeface="Calibri" pitchFamily="34" charset="-122"/>
                <a:cs typeface="Calibri" pitchFamily="34" charset="-120"/>
              </a:rPr>
              <a:t>20 evidence items  →  12 independent clusters</a:t>
            </a:r>
            <a:endParaRPr lang="en-US" sz="1150" dirty="0"/>
          </a:p>
        </p:txBody>
      </p:sp>
      <p:sp>
        <p:nvSpPr>
          <p:cNvPr id="55" name="Text 53"/>
          <p:cNvSpPr/>
          <p:nvPr/>
        </p:nvSpPr>
        <p:spPr>
          <a:xfrm>
            <a:off x="8138160" y="4892040"/>
            <a:ext cx="1554480" cy="658368"/>
          </a:xfrm>
          <a:prstGeom prst="rect">
            <a:avLst/>
          </a:prstGeom>
          <a:noFill/>
          <a:ln/>
        </p:spPr>
        <p:txBody>
          <a:bodyPr wrap="square" lIns="0" tIns="0" rIns="0" bIns="0" rtlCol="0" anchor="ctr"/>
          <a:lstStyle/>
          <a:p>
            <a:pPr algn="ctr" indent="0" marL="0">
              <a:buNone/>
            </a:pPr>
            <a:r>
              <a:rPr lang="en-US" sz="4000" b="1" dirty="0">
                <a:solidFill>
                  <a:srgbClr val="FBBF24"/>
                </a:solidFill>
                <a:latin typeface="Calibri" pitchFamily="34" charset="0"/>
                <a:ea typeface="Calibri" pitchFamily="34" charset="-122"/>
                <a:cs typeface="Calibri" pitchFamily="34" charset="-120"/>
              </a:rPr>
              <a:t>0.70</a:t>
            </a:r>
            <a:endParaRPr lang="en-US" sz="4000" dirty="0"/>
          </a:p>
        </p:txBody>
      </p:sp>
      <p:sp>
        <p:nvSpPr>
          <p:cNvPr id="56" name="Text 54"/>
          <p:cNvSpPr/>
          <p:nvPr/>
        </p:nvSpPr>
        <p:spPr>
          <a:xfrm>
            <a:off x="8138160" y="5532120"/>
            <a:ext cx="1554480" cy="45720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max conf. 1 source</a:t>
            </a:r>
            <a:endParaRPr lang="en-US" sz="1100" dirty="0"/>
          </a:p>
        </p:txBody>
      </p:sp>
      <p:sp>
        <p:nvSpPr>
          <p:cNvPr id="57" name="Text 55"/>
          <p:cNvSpPr/>
          <p:nvPr/>
        </p:nvSpPr>
        <p:spPr>
          <a:xfrm>
            <a:off x="9784080" y="4892040"/>
            <a:ext cx="1554480" cy="658368"/>
          </a:xfrm>
          <a:prstGeom prst="rect">
            <a:avLst/>
          </a:prstGeom>
          <a:noFill/>
          <a:ln/>
        </p:spPr>
        <p:txBody>
          <a:bodyPr wrap="square" lIns="0" tIns="0" rIns="0" bIns="0" rtlCol="0" anchor="ctr"/>
          <a:lstStyle/>
          <a:p>
            <a:pPr algn="ctr" indent="0" marL="0">
              <a:buNone/>
            </a:pPr>
            <a:r>
              <a:rPr lang="en-US" sz="4000" b="1" dirty="0">
                <a:solidFill>
                  <a:srgbClr val="34D399"/>
                </a:solidFill>
                <a:latin typeface="Calibri" pitchFamily="34" charset="0"/>
                <a:ea typeface="Calibri" pitchFamily="34" charset="-122"/>
                <a:cs typeface="Calibri" pitchFamily="34" charset="-120"/>
              </a:rPr>
              <a:t>0.93</a:t>
            </a:r>
            <a:endParaRPr lang="en-US" sz="4000" dirty="0"/>
          </a:p>
        </p:txBody>
      </p:sp>
      <p:sp>
        <p:nvSpPr>
          <p:cNvPr id="58" name="Text 56"/>
          <p:cNvSpPr/>
          <p:nvPr/>
        </p:nvSpPr>
        <p:spPr>
          <a:xfrm>
            <a:off x="9784080" y="5532120"/>
            <a:ext cx="1554480" cy="45720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max conf. 3+ sources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TECHNICAL IMPLEMENTATION</a:t>
            </a:r>
            <a:endParaRPr lang="en-US" sz="11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3000" b="1" dirty="0">
                <a:solidFill>
                  <a:srgbClr val="F4F4F5"/>
                </a:solidFill>
                <a:latin typeface="Calibri" pitchFamily="34" charset="0"/>
                <a:ea typeface="Calibri" pitchFamily="34" charset="-122"/>
                <a:cs typeface="Calibri" pitchFamily="34" charset="-120"/>
              </a:rPr>
              <a:t>Production engineering, not a notebook demo</a:t>
            </a:r>
            <a:endParaRPr lang="en-US" sz="3000" dirty="0"/>
          </a:p>
        </p:txBody>
      </p:sp>
      <p:sp>
        <p:nvSpPr>
          <p:cNvPr id="4" name="Shape 2"/>
          <p:cNvSpPr/>
          <p:nvPr/>
        </p:nvSpPr>
        <p:spPr>
          <a:xfrm>
            <a:off x="548640" y="1371600"/>
            <a:ext cx="3566160" cy="1874520"/>
          </a:xfrm>
          <a:prstGeom prst="roundRect">
            <a:avLst>
              <a:gd name="adj" fmla="val 5854"/>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5" name="Shape 3"/>
          <p:cNvSpPr/>
          <p:nvPr/>
        </p:nvSpPr>
        <p:spPr>
          <a:xfrm>
            <a:off x="731520" y="1536192"/>
            <a:ext cx="310896" cy="310896"/>
          </a:xfrm>
          <a:prstGeom prst="ellipse">
            <a:avLst/>
          </a:prstGeom>
          <a:solidFill>
            <a:srgbClr val="8B5CF6"/>
          </a:solidFill>
          <a:ln w="12700">
            <a:solidFill>
              <a:srgbClr val="8B5CF6"/>
            </a:solidFill>
            <a:prstDash val="solid"/>
          </a:ln>
        </p:spPr>
      </p:sp>
      <p:sp>
        <p:nvSpPr>
          <p:cNvPr id="6" name="Text 4"/>
          <p:cNvSpPr/>
          <p:nvPr/>
        </p:nvSpPr>
        <p:spPr>
          <a:xfrm>
            <a:off x="731520" y="153619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133856" y="1536192"/>
            <a:ext cx="2834640" cy="292608"/>
          </a:xfrm>
          <a:prstGeom prst="rect">
            <a:avLst/>
          </a:prstGeom>
          <a:noFill/>
          <a:ln/>
        </p:spPr>
        <p:txBody>
          <a:bodyPr wrap="square" lIns="0" tIns="0" rIns="0" bIns="0" rtlCol="0" anchor="ctr"/>
          <a:lstStyle/>
          <a:p>
            <a:pPr indent="0" marL="0">
              <a:buNone/>
            </a:pPr>
            <a:r>
              <a:rPr lang="en-US" sz="1300" b="1" dirty="0">
                <a:solidFill>
                  <a:srgbClr val="8B5CF6"/>
                </a:solidFill>
                <a:latin typeface="Calibri" pitchFamily="34" charset="0"/>
                <a:ea typeface="Calibri" pitchFamily="34" charset="-122"/>
                <a:cs typeface="Calibri" pitchFamily="34" charset="-120"/>
              </a:rPr>
              <a:t>Backend</a:t>
            </a:r>
            <a:endParaRPr lang="en-US" sz="1300" dirty="0"/>
          </a:p>
        </p:txBody>
      </p:sp>
      <p:sp>
        <p:nvSpPr>
          <p:cNvPr id="8" name="Text 6"/>
          <p:cNvSpPr/>
          <p:nvPr/>
        </p:nvSpPr>
        <p:spPr>
          <a:xfrm>
            <a:off x="768096" y="1938528"/>
            <a:ext cx="3127248" cy="11887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9CA3AF"/>
                </a:solidFill>
                <a:latin typeface="Calibri" pitchFamily="34" charset="0"/>
                <a:ea typeface="Calibri" pitchFamily="34" charset="-122"/>
                <a:cs typeface="Calibri" pitchFamily="34" charset="-120"/>
              </a:rPr>
              <a:t>Python 3.13 · FastAPI · LangGraph 1.2</a:t>
            </a:r>
            <a:endParaRPr lang="en-US" sz="1050" dirty="0"/>
          </a:p>
          <a:p>
            <a:pPr marL="342900" indent="-342900">
              <a:spcAft>
                <a:spcPts val="400"/>
              </a:spcAft>
              <a:buSzPct val="100000"/>
              <a:buChar char="•"/>
            </a:pPr>
            <a:r>
              <a:rPr lang="en-US" sz="1050" dirty="0">
                <a:solidFill>
                  <a:srgbClr val="9CA3AF"/>
                </a:solidFill>
                <a:latin typeface="Calibri" pitchFamily="34" charset="0"/>
                <a:ea typeface="Calibri" pitchFamily="34" charset="-122"/>
                <a:cs typeface="Calibri" pitchFamily="34" charset="-120"/>
              </a:rPr>
              <a:t>Pydantic v2 typed end-to-end</a:t>
            </a:r>
            <a:endParaRPr lang="en-US" sz="1050" dirty="0"/>
          </a:p>
          <a:p>
            <a:pPr marL="342900" indent="-342900">
              <a:spcAft>
                <a:spcPts val="400"/>
              </a:spcAft>
              <a:buSzPct val="100000"/>
              <a:buChar char="•"/>
            </a:pPr>
            <a:r>
              <a:rPr lang="en-US" sz="1050" dirty="0">
                <a:solidFill>
                  <a:srgbClr val="9CA3AF"/>
                </a:solidFill>
                <a:latin typeface="Calibri" pitchFamily="34" charset="0"/>
                <a:ea typeface="Calibri" pitchFamily="34" charset="-122"/>
                <a:cs typeface="Calibri" pitchFamily="34" charset="-120"/>
              </a:rPr>
              <a:t>SQLite WAL · NumPy vector store</a:t>
            </a:r>
            <a:endParaRPr lang="en-US" sz="1050" dirty="0"/>
          </a:p>
          <a:p>
            <a:pPr marL="342900" indent="-342900">
              <a:spcAft>
                <a:spcPts val="400"/>
              </a:spcAft>
              <a:buSzPct val="100000"/>
              <a:buChar char="•"/>
            </a:pPr>
            <a:r>
              <a:rPr lang="en-US" sz="1050" dirty="0">
                <a:solidFill>
                  <a:srgbClr val="9CA3AF"/>
                </a:solidFill>
                <a:latin typeface="Calibri" pitchFamily="34" charset="0"/>
                <a:ea typeface="Calibri" pitchFamily="34" charset="-122"/>
                <a:cs typeface="Calibri" pitchFamily="34" charset="-120"/>
              </a:rPr>
              <a:t>SSE streaming · checkpointed runs</a:t>
            </a:r>
            <a:endParaRPr lang="en-US" sz="1050" dirty="0"/>
          </a:p>
        </p:txBody>
      </p:sp>
      <p:sp>
        <p:nvSpPr>
          <p:cNvPr id="9" name="Shape 7"/>
          <p:cNvSpPr/>
          <p:nvPr/>
        </p:nvSpPr>
        <p:spPr>
          <a:xfrm>
            <a:off x="4297680" y="1371600"/>
            <a:ext cx="3566160" cy="1874520"/>
          </a:xfrm>
          <a:prstGeom prst="roundRect">
            <a:avLst>
              <a:gd name="adj" fmla="val 5854"/>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10" name="Shape 8"/>
          <p:cNvSpPr/>
          <p:nvPr/>
        </p:nvSpPr>
        <p:spPr>
          <a:xfrm>
            <a:off x="4480560" y="1536192"/>
            <a:ext cx="310896" cy="310896"/>
          </a:xfrm>
          <a:prstGeom prst="ellipse">
            <a:avLst/>
          </a:prstGeom>
          <a:solidFill>
            <a:srgbClr val="22D3EE"/>
          </a:solidFill>
          <a:ln w="12700">
            <a:solidFill>
              <a:srgbClr val="22D3EE"/>
            </a:solidFill>
            <a:prstDash val="solid"/>
          </a:ln>
        </p:spPr>
      </p:sp>
      <p:sp>
        <p:nvSpPr>
          <p:cNvPr id="11" name="Text 9"/>
          <p:cNvSpPr/>
          <p:nvPr/>
        </p:nvSpPr>
        <p:spPr>
          <a:xfrm>
            <a:off x="4480560" y="153619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4882896" y="1536192"/>
            <a:ext cx="2834640" cy="292608"/>
          </a:xfrm>
          <a:prstGeom prst="rect">
            <a:avLst/>
          </a:prstGeom>
          <a:noFill/>
          <a:ln/>
        </p:spPr>
        <p:txBody>
          <a:bodyPr wrap="square" lIns="0" tIns="0" rIns="0" bIns="0" rtlCol="0" anchor="ctr"/>
          <a:lstStyle/>
          <a:p>
            <a:pPr indent="0" marL="0">
              <a:buNone/>
            </a:pPr>
            <a:r>
              <a:rPr lang="en-US" sz="1300" b="1" dirty="0">
                <a:solidFill>
                  <a:srgbClr val="22D3EE"/>
                </a:solidFill>
                <a:latin typeface="Calibri" pitchFamily="34" charset="0"/>
                <a:ea typeface="Calibri" pitchFamily="34" charset="-122"/>
                <a:cs typeface="Calibri" pitchFamily="34" charset="-120"/>
              </a:rPr>
              <a:t>Frontend</a:t>
            </a:r>
            <a:endParaRPr lang="en-US" sz="1300" dirty="0"/>
          </a:p>
        </p:txBody>
      </p:sp>
      <p:sp>
        <p:nvSpPr>
          <p:cNvPr id="13" name="Text 11"/>
          <p:cNvSpPr/>
          <p:nvPr/>
        </p:nvSpPr>
        <p:spPr>
          <a:xfrm>
            <a:off x="4517136" y="1938528"/>
            <a:ext cx="3127248" cy="11887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9CA3AF"/>
                </a:solidFill>
                <a:latin typeface="Calibri" pitchFamily="34" charset="0"/>
                <a:ea typeface="Calibri" pitchFamily="34" charset="-122"/>
                <a:cs typeface="Calibri" pitchFamily="34" charset="-120"/>
              </a:rPr>
              <a:t>Next.js 15 · React 19 · TypeScript</a:t>
            </a:r>
            <a:endParaRPr lang="en-US" sz="1050" dirty="0"/>
          </a:p>
          <a:p>
            <a:pPr marL="342900" indent="-342900">
              <a:spcAft>
                <a:spcPts val="400"/>
              </a:spcAft>
              <a:buSzPct val="100000"/>
              <a:buChar char="•"/>
            </a:pPr>
            <a:r>
              <a:rPr lang="en-US" sz="1050" dirty="0">
                <a:solidFill>
                  <a:srgbClr val="9CA3AF"/>
                </a:solidFill>
                <a:latin typeface="Calibri" pitchFamily="34" charset="0"/>
                <a:ea typeface="Calibri" pitchFamily="34" charset="-122"/>
                <a:cs typeface="Calibri" pitchFamily="34" charset="-120"/>
              </a:rPr>
              <a:t>Tailwind · static export</a:t>
            </a:r>
            <a:endParaRPr lang="en-US" sz="1050" dirty="0"/>
          </a:p>
          <a:p>
            <a:pPr marL="342900" indent="-342900">
              <a:spcAft>
                <a:spcPts val="400"/>
              </a:spcAft>
              <a:buSzPct val="100000"/>
              <a:buChar char="•"/>
            </a:pPr>
            <a:r>
              <a:rPr lang="en-US" sz="1050" dirty="0">
                <a:solidFill>
                  <a:srgbClr val="9CA3AF"/>
                </a:solidFill>
                <a:latin typeface="Calibri" pitchFamily="34" charset="0"/>
                <a:ea typeface="Calibri" pitchFamily="34" charset="-122"/>
                <a:cs typeface="Calibri" pitchFamily="34" charset="-120"/>
              </a:rPr>
              <a:t>Live SSE event stream</a:t>
            </a:r>
            <a:endParaRPr lang="en-US" sz="1050" dirty="0"/>
          </a:p>
          <a:p>
            <a:pPr marL="342900" indent="-342900">
              <a:spcAft>
                <a:spcPts val="400"/>
              </a:spcAft>
              <a:buSzPct val="100000"/>
              <a:buChar char="•"/>
            </a:pPr>
            <a:r>
              <a:rPr lang="en-US" sz="1050" dirty="0">
                <a:solidFill>
                  <a:srgbClr val="9CA3AF"/>
                </a:solidFill>
                <a:latin typeface="Calibri" pitchFamily="34" charset="0"/>
                <a:ea typeface="Calibri" pitchFamily="34" charset="-122"/>
                <a:cs typeface="Calibri" pitchFamily="34" charset="-120"/>
              </a:rPr>
              <a:t>Force-directed evidence graph</a:t>
            </a:r>
            <a:endParaRPr lang="en-US" sz="1050" dirty="0"/>
          </a:p>
        </p:txBody>
      </p:sp>
      <p:sp>
        <p:nvSpPr>
          <p:cNvPr id="14" name="Shape 12"/>
          <p:cNvSpPr/>
          <p:nvPr/>
        </p:nvSpPr>
        <p:spPr>
          <a:xfrm>
            <a:off x="8046720" y="1371600"/>
            <a:ext cx="3566160" cy="1874520"/>
          </a:xfrm>
          <a:prstGeom prst="roundRect">
            <a:avLst>
              <a:gd name="adj" fmla="val 5854"/>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15" name="Shape 13"/>
          <p:cNvSpPr/>
          <p:nvPr/>
        </p:nvSpPr>
        <p:spPr>
          <a:xfrm>
            <a:off x="8229600" y="1536192"/>
            <a:ext cx="310896" cy="310896"/>
          </a:xfrm>
          <a:prstGeom prst="ellipse">
            <a:avLst/>
          </a:prstGeom>
          <a:solidFill>
            <a:srgbClr val="34D399"/>
          </a:solidFill>
          <a:ln w="12700">
            <a:solidFill>
              <a:srgbClr val="34D399"/>
            </a:solidFill>
            <a:prstDash val="solid"/>
          </a:ln>
        </p:spPr>
      </p:sp>
      <p:sp>
        <p:nvSpPr>
          <p:cNvPr id="16" name="Text 14"/>
          <p:cNvSpPr/>
          <p:nvPr/>
        </p:nvSpPr>
        <p:spPr>
          <a:xfrm>
            <a:off x="8229600" y="1536192"/>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8631936" y="1536192"/>
            <a:ext cx="2834640" cy="292608"/>
          </a:xfrm>
          <a:prstGeom prst="rect">
            <a:avLst/>
          </a:prstGeom>
          <a:noFill/>
          <a:ln/>
        </p:spPr>
        <p:txBody>
          <a:bodyPr wrap="square" lIns="0" tIns="0" rIns="0" bIns="0" rtlCol="0" anchor="ctr"/>
          <a:lstStyle/>
          <a:p>
            <a:pPr indent="0" marL="0">
              <a:buNone/>
            </a:pPr>
            <a:r>
              <a:rPr lang="en-US" sz="1300" b="1" dirty="0">
                <a:solidFill>
                  <a:srgbClr val="34D399"/>
                </a:solidFill>
                <a:latin typeface="Calibri" pitchFamily="34" charset="0"/>
                <a:ea typeface="Calibri" pitchFamily="34" charset="-122"/>
                <a:cs typeface="Calibri" pitchFamily="34" charset="-120"/>
              </a:rPr>
              <a:t>Infra</a:t>
            </a:r>
            <a:endParaRPr lang="en-US" sz="1300" dirty="0"/>
          </a:p>
        </p:txBody>
      </p:sp>
      <p:sp>
        <p:nvSpPr>
          <p:cNvPr id="18" name="Text 16"/>
          <p:cNvSpPr/>
          <p:nvPr/>
        </p:nvSpPr>
        <p:spPr>
          <a:xfrm>
            <a:off x="8266176" y="1938528"/>
            <a:ext cx="3127248" cy="11887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9CA3AF"/>
                </a:solidFill>
                <a:latin typeface="Calibri" pitchFamily="34" charset="0"/>
                <a:ea typeface="Calibri" pitchFamily="34" charset="-122"/>
                <a:cs typeface="Calibri" pitchFamily="34" charset="-120"/>
              </a:rPr>
              <a:t>Single Docker image, UI + API one port</a:t>
            </a:r>
            <a:endParaRPr lang="en-US" sz="1050" dirty="0"/>
          </a:p>
          <a:p>
            <a:pPr marL="342900" indent="-342900">
              <a:spcAft>
                <a:spcPts val="400"/>
              </a:spcAft>
              <a:buSzPct val="100000"/>
              <a:buChar char="•"/>
            </a:pPr>
            <a:r>
              <a:rPr lang="en-US" sz="1050" dirty="0">
                <a:solidFill>
                  <a:srgbClr val="9CA3AF"/>
                </a:solidFill>
                <a:latin typeface="Calibri" pitchFamily="34" charset="0"/>
                <a:ea typeface="Calibri" pitchFamily="34" charset="-122"/>
                <a:cs typeface="Calibri" pitchFamily="34" charset="-120"/>
              </a:rPr>
              <a:t>Render deployed · CI on 3 Python versions</a:t>
            </a:r>
            <a:endParaRPr lang="en-US" sz="1050" dirty="0"/>
          </a:p>
          <a:p>
            <a:pPr marL="342900" indent="-342900">
              <a:spcAft>
                <a:spcPts val="400"/>
              </a:spcAft>
              <a:buSzPct val="100000"/>
              <a:buChar char="•"/>
            </a:pPr>
            <a:r>
              <a:rPr lang="en-US" sz="1050" dirty="0">
                <a:solidFill>
                  <a:srgbClr val="9CA3AF"/>
                </a:solidFill>
                <a:latin typeface="Calibri" pitchFamily="34" charset="0"/>
                <a:ea typeface="Calibri" pitchFamily="34" charset="-122"/>
                <a:cs typeface="Calibri" pitchFamily="34" charset="-120"/>
              </a:rPr>
              <a:t>SearXNG self-hosted metasearch</a:t>
            </a:r>
            <a:endParaRPr lang="en-US" sz="1050" dirty="0"/>
          </a:p>
          <a:p>
            <a:pPr marL="342900" indent="-342900">
              <a:spcAft>
                <a:spcPts val="400"/>
              </a:spcAft>
              <a:buSzPct val="100000"/>
              <a:buChar char="•"/>
            </a:pPr>
            <a:r>
              <a:rPr lang="en-US" sz="1050" dirty="0">
                <a:solidFill>
                  <a:srgbClr val="9CA3AF"/>
                </a:solidFill>
                <a:latin typeface="Calibri" pitchFamily="34" charset="0"/>
                <a:ea typeface="Calibri" pitchFamily="34" charset="-122"/>
                <a:cs typeface="Calibri" pitchFamily="34" charset="-120"/>
              </a:rPr>
              <a:t>Ruff · mypy · GitHub Actions</a:t>
            </a:r>
            <a:endParaRPr lang="en-US" sz="1050" dirty="0"/>
          </a:p>
        </p:txBody>
      </p:sp>
      <p:sp>
        <p:nvSpPr>
          <p:cNvPr id="19" name="Shape 17"/>
          <p:cNvSpPr/>
          <p:nvPr/>
        </p:nvSpPr>
        <p:spPr>
          <a:xfrm>
            <a:off x="548640" y="3474720"/>
            <a:ext cx="11064240" cy="1691640"/>
          </a:xfrm>
          <a:prstGeom prst="roundRect">
            <a:avLst>
              <a:gd name="adj" fmla="val 6486"/>
            </a:avLst>
          </a:prstGeom>
          <a:solidFill>
            <a:srgbClr val="1C1C34"/>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20" name="Text 18"/>
          <p:cNvSpPr/>
          <p:nvPr/>
        </p:nvSpPr>
        <p:spPr>
          <a:xfrm>
            <a:off x="822960" y="3639312"/>
            <a:ext cx="3657600" cy="274320"/>
          </a:xfrm>
          <a:prstGeom prst="rect">
            <a:avLst/>
          </a:prstGeom>
          <a:noFill/>
          <a:ln/>
        </p:spPr>
        <p:txBody>
          <a:bodyPr wrap="square" lIns="0" tIns="0" rIns="0" bIns="0" rtlCol="0" anchor="ctr"/>
          <a:lstStyle/>
          <a:p>
            <a:pPr indent="0" marL="0">
              <a:buNone/>
            </a:pPr>
            <a:r>
              <a:rPr lang="en-US" sz="1300" b="1" dirty="0">
                <a:solidFill>
                  <a:srgbClr val="22D3EE"/>
                </a:solidFill>
                <a:latin typeface="Calibri" pitchFamily="34" charset="0"/>
                <a:ea typeface="Calibri" pitchFamily="34" charset="-122"/>
                <a:cs typeface="Calibri" pitchFamily="34" charset="-120"/>
              </a:rPr>
              <a:t>Engineering depth</a:t>
            </a:r>
            <a:endParaRPr lang="en-US" sz="1300" dirty="0"/>
          </a:p>
        </p:txBody>
      </p:sp>
      <p:sp>
        <p:nvSpPr>
          <p:cNvPr id="21" name="Text 19"/>
          <p:cNvSpPr/>
          <p:nvPr/>
        </p:nvSpPr>
        <p:spPr>
          <a:xfrm>
            <a:off x="822960" y="4005072"/>
            <a:ext cx="3474720" cy="237744"/>
          </a:xfrm>
          <a:prstGeom prst="rect">
            <a:avLst/>
          </a:prstGeom>
          <a:noFill/>
          <a:ln/>
        </p:spPr>
        <p:txBody>
          <a:bodyPr wrap="square" lIns="0" tIns="0" rIns="0" bIns="0" rtlCol="0" anchor="ctr"/>
          <a:lstStyle/>
          <a:p>
            <a:pPr indent="0" marL="0">
              <a:buNone/>
            </a:pPr>
            <a:r>
              <a:rPr lang="en-US" sz="1150" b="1" dirty="0">
                <a:solidFill>
                  <a:srgbClr val="F4F4F5"/>
                </a:solidFill>
                <a:latin typeface="Calibri" pitchFamily="34" charset="0"/>
                <a:ea typeface="Calibri" pitchFamily="34" charset="-122"/>
                <a:cs typeface="Calibri" pitchFamily="34" charset="-120"/>
              </a:rPr>
              <a:t>Token-per-minute limiting</a:t>
            </a:r>
            <a:endParaRPr lang="en-US" sz="1150" dirty="0"/>
          </a:p>
        </p:txBody>
      </p:sp>
      <p:sp>
        <p:nvSpPr>
          <p:cNvPr id="22" name="Text 20"/>
          <p:cNvSpPr/>
          <p:nvPr/>
        </p:nvSpPr>
        <p:spPr>
          <a:xfrm>
            <a:off x="822960" y="4224528"/>
            <a:ext cx="3474720" cy="237744"/>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Providers cap tokens, not requests</a:t>
            </a:r>
            <a:endParaRPr lang="en-US" sz="1000" dirty="0"/>
          </a:p>
        </p:txBody>
      </p:sp>
      <p:sp>
        <p:nvSpPr>
          <p:cNvPr id="23" name="Text 21"/>
          <p:cNvSpPr/>
          <p:nvPr/>
        </p:nvSpPr>
        <p:spPr>
          <a:xfrm>
            <a:off x="4480560" y="4005072"/>
            <a:ext cx="3474720" cy="237744"/>
          </a:xfrm>
          <a:prstGeom prst="rect">
            <a:avLst/>
          </a:prstGeom>
          <a:noFill/>
          <a:ln/>
        </p:spPr>
        <p:txBody>
          <a:bodyPr wrap="square" lIns="0" tIns="0" rIns="0" bIns="0" rtlCol="0" anchor="ctr"/>
          <a:lstStyle/>
          <a:p>
            <a:pPr indent="0" marL="0">
              <a:buNone/>
            </a:pPr>
            <a:r>
              <a:rPr lang="en-US" sz="1150" b="1" dirty="0">
                <a:solidFill>
                  <a:srgbClr val="F4F4F5"/>
                </a:solidFill>
                <a:latin typeface="Calibri" pitchFamily="34" charset="0"/>
                <a:ea typeface="Calibri" pitchFamily="34" charset="-122"/>
                <a:cs typeface="Calibri" pitchFamily="34" charset="-120"/>
              </a:rPr>
              <a:t>Per-model quota tracking</a:t>
            </a:r>
            <a:endParaRPr lang="en-US" sz="1150" dirty="0"/>
          </a:p>
        </p:txBody>
      </p:sp>
      <p:sp>
        <p:nvSpPr>
          <p:cNvPr id="24" name="Text 22"/>
          <p:cNvSpPr/>
          <p:nvPr/>
        </p:nvSpPr>
        <p:spPr>
          <a:xfrm>
            <a:off x="4480560" y="4224528"/>
            <a:ext cx="3474720" cy="237744"/>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4× usable free-tier throughput</a:t>
            </a:r>
            <a:endParaRPr lang="en-US" sz="1000" dirty="0"/>
          </a:p>
        </p:txBody>
      </p:sp>
      <p:sp>
        <p:nvSpPr>
          <p:cNvPr id="25" name="Text 23"/>
          <p:cNvSpPr/>
          <p:nvPr/>
        </p:nvSpPr>
        <p:spPr>
          <a:xfrm>
            <a:off x="8138160" y="4005072"/>
            <a:ext cx="3474720" cy="237744"/>
          </a:xfrm>
          <a:prstGeom prst="rect">
            <a:avLst/>
          </a:prstGeom>
          <a:noFill/>
          <a:ln/>
        </p:spPr>
        <p:txBody>
          <a:bodyPr wrap="square" lIns="0" tIns="0" rIns="0" bIns="0" rtlCol="0" anchor="ctr"/>
          <a:lstStyle/>
          <a:p>
            <a:pPr indent="0" marL="0">
              <a:buNone/>
            </a:pPr>
            <a:r>
              <a:rPr lang="en-US" sz="1150" b="1" dirty="0">
                <a:solidFill>
                  <a:srgbClr val="F4F4F5"/>
                </a:solidFill>
                <a:latin typeface="Calibri" pitchFamily="34" charset="0"/>
                <a:ea typeface="Calibri" pitchFamily="34" charset="-122"/>
                <a:cs typeface="Calibri" pitchFamily="34" charset="-120"/>
              </a:rPr>
              <a:t>Prompt auto-fitting</a:t>
            </a:r>
            <a:endParaRPr lang="en-US" sz="1150" dirty="0"/>
          </a:p>
        </p:txBody>
      </p:sp>
      <p:sp>
        <p:nvSpPr>
          <p:cNvPr id="26" name="Text 24"/>
          <p:cNvSpPr/>
          <p:nvPr/>
        </p:nvSpPr>
        <p:spPr>
          <a:xfrm>
            <a:off x="8138160" y="4224528"/>
            <a:ext cx="3474720" cy="237744"/>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Oversized calls are a permanent 413</a:t>
            </a:r>
            <a:endParaRPr lang="en-US" sz="1000" dirty="0"/>
          </a:p>
        </p:txBody>
      </p:sp>
      <p:sp>
        <p:nvSpPr>
          <p:cNvPr id="27" name="Text 25"/>
          <p:cNvSpPr/>
          <p:nvPr/>
        </p:nvSpPr>
        <p:spPr>
          <a:xfrm>
            <a:off x="822960" y="4572000"/>
            <a:ext cx="3474720" cy="237744"/>
          </a:xfrm>
          <a:prstGeom prst="rect">
            <a:avLst/>
          </a:prstGeom>
          <a:noFill/>
          <a:ln/>
        </p:spPr>
        <p:txBody>
          <a:bodyPr wrap="square" lIns="0" tIns="0" rIns="0" bIns="0" rtlCol="0" anchor="ctr"/>
          <a:lstStyle/>
          <a:p>
            <a:pPr indent="0" marL="0">
              <a:buNone/>
            </a:pPr>
            <a:r>
              <a:rPr lang="en-US" sz="1150" b="1" dirty="0">
                <a:solidFill>
                  <a:srgbClr val="F4F4F5"/>
                </a:solidFill>
                <a:latin typeface="Calibri" pitchFamily="34" charset="0"/>
                <a:ea typeface="Calibri" pitchFamily="34" charset="-122"/>
                <a:cs typeface="Calibri" pitchFamily="34" charset="-120"/>
              </a:rPr>
              <a:t>Server-stated retry delay</a:t>
            </a:r>
            <a:endParaRPr lang="en-US" sz="1150" dirty="0"/>
          </a:p>
        </p:txBody>
      </p:sp>
      <p:sp>
        <p:nvSpPr>
          <p:cNvPr id="28" name="Text 26"/>
          <p:cNvSpPr/>
          <p:nvPr/>
        </p:nvSpPr>
        <p:spPr>
          <a:xfrm>
            <a:off x="822960" y="4791456"/>
            <a:ext cx="3474720" cy="237744"/>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Obeys 'retry in 49s', not a guess</a:t>
            </a:r>
            <a:endParaRPr lang="en-US" sz="1000" dirty="0"/>
          </a:p>
        </p:txBody>
      </p:sp>
      <p:sp>
        <p:nvSpPr>
          <p:cNvPr id="29" name="Text 27"/>
          <p:cNvSpPr/>
          <p:nvPr/>
        </p:nvSpPr>
        <p:spPr>
          <a:xfrm>
            <a:off x="4480560" y="4572000"/>
            <a:ext cx="3474720" cy="237744"/>
          </a:xfrm>
          <a:prstGeom prst="rect">
            <a:avLst/>
          </a:prstGeom>
          <a:noFill/>
          <a:ln/>
        </p:spPr>
        <p:txBody>
          <a:bodyPr wrap="square" lIns="0" tIns="0" rIns="0" bIns="0" rtlCol="0" anchor="ctr"/>
          <a:lstStyle/>
          <a:p>
            <a:pPr indent="0" marL="0">
              <a:buNone/>
            </a:pPr>
            <a:r>
              <a:rPr lang="en-US" sz="1150" b="1" dirty="0">
                <a:solidFill>
                  <a:srgbClr val="F4F4F5"/>
                </a:solidFill>
                <a:latin typeface="Calibri" pitchFamily="34" charset="0"/>
                <a:ea typeface="Calibri" pitchFamily="34" charset="-122"/>
                <a:cs typeface="Calibri" pitchFamily="34" charset="-120"/>
              </a:rPr>
              <a:t>Hermetic offline test mode</a:t>
            </a:r>
            <a:endParaRPr lang="en-US" sz="1150" dirty="0"/>
          </a:p>
        </p:txBody>
      </p:sp>
      <p:sp>
        <p:nvSpPr>
          <p:cNvPr id="30" name="Text 28"/>
          <p:cNvSpPr/>
          <p:nvPr/>
        </p:nvSpPr>
        <p:spPr>
          <a:xfrm>
            <a:off x="4480560" y="4791456"/>
            <a:ext cx="3474720" cy="237744"/>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230 tests, zero network, zero keys</a:t>
            </a:r>
            <a:endParaRPr lang="en-US" sz="1000" dirty="0"/>
          </a:p>
        </p:txBody>
      </p:sp>
      <p:sp>
        <p:nvSpPr>
          <p:cNvPr id="31" name="Text 29"/>
          <p:cNvSpPr/>
          <p:nvPr/>
        </p:nvSpPr>
        <p:spPr>
          <a:xfrm>
            <a:off x="8138160" y="4572000"/>
            <a:ext cx="3474720" cy="237744"/>
          </a:xfrm>
          <a:prstGeom prst="rect">
            <a:avLst/>
          </a:prstGeom>
          <a:noFill/>
          <a:ln/>
        </p:spPr>
        <p:txBody>
          <a:bodyPr wrap="square" lIns="0" tIns="0" rIns="0" bIns="0" rtlCol="0" anchor="ctr"/>
          <a:lstStyle/>
          <a:p>
            <a:pPr indent="0" marL="0">
              <a:buNone/>
            </a:pPr>
            <a:r>
              <a:rPr lang="en-US" sz="1150" b="1" dirty="0">
                <a:solidFill>
                  <a:srgbClr val="F4F4F5"/>
                </a:solidFill>
                <a:latin typeface="Calibri" pitchFamily="34" charset="0"/>
                <a:ea typeface="Calibri" pitchFamily="34" charset="-122"/>
                <a:cs typeface="Calibri" pitchFamily="34" charset="-120"/>
              </a:rPr>
              <a:t>Graceful degradation</a:t>
            </a:r>
            <a:endParaRPr lang="en-US" sz="1150" dirty="0"/>
          </a:p>
        </p:txBody>
      </p:sp>
      <p:sp>
        <p:nvSpPr>
          <p:cNvPr id="32" name="Text 30"/>
          <p:cNvSpPr/>
          <p:nvPr/>
        </p:nvSpPr>
        <p:spPr>
          <a:xfrm>
            <a:off x="8138160" y="4791456"/>
            <a:ext cx="3474720" cy="237744"/>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 dead branch → NEI, never a dead run</a:t>
            </a:r>
            <a:endParaRPr lang="en-US" sz="1000" dirty="0"/>
          </a:p>
        </p:txBody>
      </p:sp>
      <p:sp>
        <p:nvSpPr>
          <p:cNvPr id="33" name="Text 31"/>
          <p:cNvSpPr/>
          <p:nvPr/>
        </p:nvSpPr>
        <p:spPr>
          <a:xfrm>
            <a:off x="548640" y="5349240"/>
            <a:ext cx="2103120" cy="658368"/>
          </a:xfrm>
          <a:prstGeom prst="rect">
            <a:avLst/>
          </a:prstGeom>
          <a:noFill/>
          <a:ln/>
        </p:spPr>
        <p:txBody>
          <a:bodyPr wrap="square" lIns="0" tIns="0" rIns="0" bIns="0" rtlCol="0" anchor="ctr"/>
          <a:lstStyle/>
          <a:p>
            <a:pPr algn="ctr" indent="0" marL="0">
              <a:buNone/>
            </a:pPr>
            <a:r>
              <a:rPr lang="en-US" sz="4000" b="1" dirty="0">
                <a:solidFill>
                  <a:srgbClr val="34D399"/>
                </a:solidFill>
                <a:latin typeface="Calibri" pitchFamily="34" charset="0"/>
                <a:ea typeface="Calibri" pitchFamily="34" charset="-122"/>
                <a:cs typeface="Calibri" pitchFamily="34" charset="-120"/>
              </a:rPr>
              <a:t>230</a:t>
            </a:r>
            <a:endParaRPr lang="en-US" sz="4000" dirty="0"/>
          </a:p>
        </p:txBody>
      </p:sp>
      <p:sp>
        <p:nvSpPr>
          <p:cNvPr id="34" name="Text 32"/>
          <p:cNvSpPr/>
          <p:nvPr/>
        </p:nvSpPr>
        <p:spPr>
          <a:xfrm>
            <a:off x="548640" y="5989320"/>
            <a:ext cx="2103120" cy="45720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tests passing</a:t>
            </a:r>
            <a:endParaRPr lang="en-US" sz="1100" dirty="0"/>
          </a:p>
        </p:txBody>
      </p:sp>
      <p:sp>
        <p:nvSpPr>
          <p:cNvPr id="35" name="Text 33"/>
          <p:cNvSpPr/>
          <p:nvPr/>
        </p:nvSpPr>
        <p:spPr>
          <a:xfrm>
            <a:off x="2743200" y="5349240"/>
            <a:ext cx="2103120" cy="658368"/>
          </a:xfrm>
          <a:prstGeom prst="rect">
            <a:avLst/>
          </a:prstGeom>
          <a:noFill/>
          <a:ln/>
        </p:spPr>
        <p:txBody>
          <a:bodyPr wrap="square" lIns="0" tIns="0" rIns="0" bIns="0" rtlCol="0" anchor="ctr"/>
          <a:lstStyle/>
          <a:p>
            <a:pPr algn="ctr" indent="0" marL="0">
              <a:buNone/>
            </a:pPr>
            <a:r>
              <a:rPr lang="en-US" sz="4000" b="1" dirty="0">
                <a:solidFill>
                  <a:srgbClr val="22D3EE"/>
                </a:solidFill>
                <a:latin typeface="Calibri" pitchFamily="34" charset="0"/>
                <a:ea typeface="Calibri" pitchFamily="34" charset="-122"/>
                <a:cs typeface="Calibri" pitchFamily="34" charset="-120"/>
              </a:rPr>
              <a:t>4</a:t>
            </a:r>
            <a:endParaRPr lang="en-US" sz="4000" dirty="0"/>
          </a:p>
        </p:txBody>
      </p:sp>
      <p:sp>
        <p:nvSpPr>
          <p:cNvPr id="36" name="Text 34"/>
          <p:cNvSpPr/>
          <p:nvPr/>
        </p:nvSpPr>
        <p:spPr>
          <a:xfrm>
            <a:off x="2743200" y="5989320"/>
            <a:ext cx="2103120" cy="45720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LLM providers</a:t>
            </a:r>
            <a:endParaRPr lang="en-US" sz="1100" dirty="0"/>
          </a:p>
        </p:txBody>
      </p:sp>
      <p:sp>
        <p:nvSpPr>
          <p:cNvPr id="37" name="Text 35"/>
          <p:cNvSpPr/>
          <p:nvPr/>
        </p:nvSpPr>
        <p:spPr>
          <a:xfrm>
            <a:off x="4937760" y="5349240"/>
            <a:ext cx="2103120" cy="658368"/>
          </a:xfrm>
          <a:prstGeom prst="rect">
            <a:avLst/>
          </a:prstGeom>
          <a:noFill/>
          <a:ln/>
        </p:spPr>
        <p:txBody>
          <a:bodyPr wrap="square" lIns="0" tIns="0" rIns="0" bIns="0" rtlCol="0" anchor="ctr"/>
          <a:lstStyle/>
          <a:p>
            <a:pPr algn="ctr" indent="0" marL="0">
              <a:buNone/>
            </a:pPr>
            <a:r>
              <a:rPr lang="en-US" sz="4000" b="1" dirty="0">
                <a:solidFill>
                  <a:srgbClr val="8B5CF6"/>
                </a:solidFill>
                <a:latin typeface="Calibri" pitchFamily="34" charset="0"/>
                <a:ea typeface="Calibri" pitchFamily="34" charset="-122"/>
                <a:cs typeface="Calibri" pitchFamily="34" charset="-120"/>
              </a:rPr>
              <a:t>8</a:t>
            </a:r>
            <a:endParaRPr lang="en-US" sz="4000" dirty="0"/>
          </a:p>
        </p:txBody>
      </p:sp>
      <p:sp>
        <p:nvSpPr>
          <p:cNvPr id="38" name="Text 36"/>
          <p:cNvSpPr/>
          <p:nvPr/>
        </p:nvSpPr>
        <p:spPr>
          <a:xfrm>
            <a:off x="4937760" y="5989320"/>
            <a:ext cx="2103120" cy="45720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source types</a:t>
            </a:r>
            <a:endParaRPr lang="en-US" sz="1100" dirty="0"/>
          </a:p>
        </p:txBody>
      </p:sp>
      <p:sp>
        <p:nvSpPr>
          <p:cNvPr id="39" name="Text 37"/>
          <p:cNvSpPr/>
          <p:nvPr/>
        </p:nvSpPr>
        <p:spPr>
          <a:xfrm>
            <a:off x="7132320" y="5349240"/>
            <a:ext cx="2103120" cy="658368"/>
          </a:xfrm>
          <a:prstGeom prst="rect">
            <a:avLst/>
          </a:prstGeom>
          <a:noFill/>
          <a:ln/>
        </p:spPr>
        <p:txBody>
          <a:bodyPr wrap="square" lIns="0" tIns="0" rIns="0" bIns="0" rtlCol="0" anchor="ctr"/>
          <a:lstStyle/>
          <a:p>
            <a:pPr algn="ctr" indent="0" marL="0">
              <a:buNone/>
            </a:pPr>
            <a:r>
              <a:rPr lang="en-US" sz="4000" b="1" dirty="0">
                <a:solidFill>
                  <a:srgbClr val="34D399"/>
                </a:solidFill>
                <a:latin typeface="Calibri" pitchFamily="34" charset="0"/>
                <a:ea typeface="Calibri" pitchFamily="34" charset="-122"/>
                <a:cs typeface="Calibri" pitchFamily="34" charset="-120"/>
              </a:rPr>
              <a:t>0</a:t>
            </a:r>
            <a:endParaRPr lang="en-US" sz="4000" dirty="0"/>
          </a:p>
        </p:txBody>
      </p:sp>
      <p:sp>
        <p:nvSpPr>
          <p:cNvPr id="40" name="Text 38"/>
          <p:cNvSpPr/>
          <p:nvPr/>
        </p:nvSpPr>
        <p:spPr>
          <a:xfrm>
            <a:off x="7132320" y="5989320"/>
            <a:ext cx="2103120" cy="45720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lint errors</a:t>
            </a:r>
            <a:endParaRPr lang="en-US" sz="1100" dirty="0"/>
          </a:p>
        </p:txBody>
      </p:sp>
      <p:sp>
        <p:nvSpPr>
          <p:cNvPr id="41" name="Text 39"/>
          <p:cNvSpPr/>
          <p:nvPr/>
        </p:nvSpPr>
        <p:spPr>
          <a:xfrm>
            <a:off x="9326880" y="5349240"/>
            <a:ext cx="2286000" cy="658368"/>
          </a:xfrm>
          <a:prstGeom prst="rect">
            <a:avLst/>
          </a:prstGeom>
          <a:noFill/>
          <a:ln/>
        </p:spPr>
        <p:txBody>
          <a:bodyPr wrap="square" lIns="0" tIns="0" rIns="0" bIns="0" rtlCol="0" anchor="ctr"/>
          <a:lstStyle/>
          <a:p>
            <a:pPr algn="ctr" indent="0" marL="0">
              <a:buNone/>
            </a:pPr>
            <a:r>
              <a:rPr lang="en-US" sz="4000" b="1" dirty="0">
                <a:solidFill>
                  <a:srgbClr val="22D3EE"/>
                </a:solidFill>
                <a:latin typeface="Calibri" pitchFamily="34" charset="0"/>
                <a:ea typeface="Calibri" pitchFamily="34" charset="-122"/>
                <a:cs typeface="Calibri" pitchFamily="34" charset="-120"/>
              </a:rPr>
              <a:t>100%</a:t>
            </a:r>
            <a:endParaRPr lang="en-US" sz="4000" dirty="0"/>
          </a:p>
        </p:txBody>
      </p:sp>
      <p:sp>
        <p:nvSpPr>
          <p:cNvPr id="42" name="Text 40"/>
          <p:cNvSpPr/>
          <p:nvPr/>
        </p:nvSpPr>
        <p:spPr>
          <a:xfrm>
            <a:off x="9326880" y="5989320"/>
            <a:ext cx="2286000" cy="45720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typed public API</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DEMO &amp; FUNCTIONALITY</a:t>
            </a:r>
            <a:endParaRPr lang="en-US" sz="11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3000" b="1" dirty="0">
                <a:solidFill>
                  <a:srgbClr val="F4F4F5"/>
                </a:solidFill>
                <a:latin typeface="Calibri" pitchFamily="34" charset="0"/>
                <a:ea typeface="Calibri" pitchFamily="34" charset="-122"/>
                <a:cs typeface="Calibri" pitchFamily="34" charset="-120"/>
              </a:rPr>
              <a:t>Built, deployed, and measured on live claims</a:t>
            </a:r>
            <a:endParaRPr lang="en-US" sz="3000" dirty="0"/>
          </a:p>
        </p:txBody>
      </p:sp>
      <p:sp>
        <p:nvSpPr>
          <p:cNvPr id="4" name="Shape 2"/>
          <p:cNvSpPr/>
          <p:nvPr/>
        </p:nvSpPr>
        <p:spPr>
          <a:xfrm>
            <a:off x="548640" y="1371600"/>
            <a:ext cx="5486400" cy="2286000"/>
          </a:xfrm>
          <a:prstGeom prst="roundRect">
            <a:avLst>
              <a:gd name="adj" fmla="val 4800"/>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5" name="Text 3"/>
          <p:cNvSpPr/>
          <p:nvPr/>
        </p:nvSpPr>
        <p:spPr>
          <a:xfrm>
            <a:off x="822960" y="1536192"/>
            <a:ext cx="4937760" cy="274320"/>
          </a:xfrm>
          <a:prstGeom prst="rect">
            <a:avLst/>
          </a:prstGeom>
          <a:noFill/>
          <a:ln/>
        </p:spPr>
        <p:txBody>
          <a:bodyPr wrap="square" lIns="0" tIns="0" rIns="0" bIns="0" rtlCol="0" anchor="ctr"/>
          <a:lstStyle/>
          <a:p>
            <a:pPr indent="0" marL="0">
              <a:buNone/>
            </a:pPr>
            <a:r>
              <a:rPr lang="en-US" sz="1300" b="1" dirty="0">
                <a:solidFill>
                  <a:srgbClr val="22D3EE"/>
                </a:solidFill>
                <a:latin typeface="Calibri" pitchFamily="34" charset="0"/>
                <a:ea typeface="Calibri" pitchFamily="34" charset="-122"/>
                <a:cs typeface="Calibri" pitchFamily="34" charset="-120"/>
              </a:rPr>
              <a:t>Live verification — real output</a:t>
            </a:r>
            <a:endParaRPr lang="en-US" sz="1300" dirty="0"/>
          </a:p>
        </p:txBody>
      </p:sp>
      <p:sp>
        <p:nvSpPr>
          <p:cNvPr id="6" name="Shape 4"/>
          <p:cNvSpPr/>
          <p:nvPr/>
        </p:nvSpPr>
        <p:spPr>
          <a:xfrm>
            <a:off x="822960" y="1920240"/>
            <a:ext cx="1572768" cy="329184"/>
          </a:xfrm>
          <a:prstGeom prst="roundRect">
            <a:avLst>
              <a:gd name="adj" fmla="val 16667"/>
            </a:avLst>
          </a:prstGeom>
          <a:solidFill>
            <a:srgbClr val="34D399">
              <a:alpha val="18000"/>
            </a:srgbClr>
          </a:solidFill>
          <a:ln w="9525">
            <a:solidFill>
              <a:srgbClr val="34D399"/>
            </a:solidFill>
            <a:prstDash val="solid"/>
          </a:ln>
        </p:spPr>
      </p:sp>
      <p:sp>
        <p:nvSpPr>
          <p:cNvPr id="7" name="Text 5"/>
          <p:cNvSpPr/>
          <p:nvPr/>
        </p:nvSpPr>
        <p:spPr>
          <a:xfrm>
            <a:off x="822960" y="1920240"/>
            <a:ext cx="1572768" cy="329184"/>
          </a:xfrm>
          <a:prstGeom prst="rect">
            <a:avLst/>
          </a:prstGeom>
          <a:noFill/>
          <a:ln/>
        </p:spPr>
        <p:txBody>
          <a:bodyPr wrap="square" lIns="0" tIns="0" rIns="0" bIns="0" rtlCol="0" anchor="ctr"/>
          <a:lstStyle/>
          <a:p>
            <a:pPr algn="ctr" indent="0" marL="0">
              <a:buNone/>
            </a:pPr>
            <a:r>
              <a:rPr lang="en-US" sz="850" b="1" dirty="0">
                <a:solidFill>
                  <a:srgbClr val="34D399"/>
                </a:solidFill>
                <a:latin typeface="Calibri" pitchFamily="34" charset="0"/>
                <a:ea typeface="Calibri" pitchFamily="34" charset="-122"/>
                <a:cs typeface="Calibri" pitchFamily="34" charset="-120"/>
              </a:rPr>
              <a:t>SUPPORTED</a:t>
            </a:r>
            <a:endParaRPr lang="en-US" sz="850" dirty="0"/>
          </a:p>
        </p:txBody>
      </p:sp>
      <p:sp>
        <p:nvSpPr>
          <p:cNvPr id="8" name="Text 6"/>
          <p:cNvSpPr/>
          <p:nvPr/>
        </p:nvSpPr>
        <p:spPr>
          <a:xfrm>
            <a:off x="2487168" y="1920240"/>
            <a:ext cx="502920" cy="329184"/>
          </a:xfrm>
          <a:prstGeom prst="rect">
            <a:avLst/>
          </a:prstGeom>
          <a:noFill/>
          <a:ln/>
        </p:spPr>
        <p:txBody>
          <a:bodyPr wrap="square" lIns="0" tIns="0" rIns="0" bIns="0" rtlCol="0" anchor="ctr"/>
          <a:lstStyle/>
          <a:p>
            <a:pPr indent="0" marL="0">
              <a:buNone/>
            </a:pPr>
            <a:r>
              <a:rPr lang="en-US" sz="1300" b="1" dirty="0">
                <a:solidFill>
                  <a:srgbClr val="34D399"/>
                </a:solidFill>
                <a:latin typeface="Calibri" pitchFamily="34" charset="0"/>
                <a:ea typeface="Calibri" pitchFamily="34" charset="-122"/>
                <a:cs typeface="Calibri" pitchFamily="34" charset="-120"/>
              </a:rPr>
              <a:t>0.93</a:t>
            </a:r>
            <a:endParaRPr lang="en-US" sz="1300" dirty="0"/>
          </a:p>
        </p:txBody>
      </p:sp>
      <p:sp>
        <p:nvSpPr>
          <p:cNvPr id="9" name="Text 7"/>
          <p:cNvSpPr/>
          <p:nvPr/>
        </p:nvSpPr>
        <p:spPr>
          <a:xfrm>
            <a:off x="3054096" y="1920240"/>
            <a:ext cx="2834640" cy="329184"/>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"The Eiffel Tower is in Paris, France"</a:t>
            </a:r>
            <a:endParaRPr lang="en-US" sz="1000" dirty="0"/>
          </a:p>
        </p:txBody>
      </p:sp>
      <p:sp>
        <p:nvSpPr>
          <p:cNvPr id="10" name="Shape 8"/>
          <p:cNvSpPr/>
          <p:nvPr/>
        </p:nvSpPr>
        <p:spPr>
          <a:xfrm>
            <a:off x="822960" y="2468880"/>
            <a:ext cx="1572768" cy="329184"/>
          </a:xfrm>
          <a:prstGeom prst="roundRect">
            <a:avLst>
              <a:gd name="adj" fmla="val 16667"/>
            </a:avLst>
          </a:prstGeom>
          <a:solidFill>
            <a:srgbClr val="FB7185">
              <a:alpha val="18000"/>
            </a:srgbClr>
          </a:solidFill>
          <a:ln w="9525">
            <a:solidFill>
              <a:srgbClr val="FB7185"/>
            </a:solidFill>
            <a:prstDash val="solid"/>
          </a:ln>
        </p:spPr>
      </p:sp>
      <p:sp>
        <p:nvSpPr>
          <p:cNvPr id="11" name="Text 9"/>
          <p:cNvSpPr/>
          <p:nvPr/>
        </p:nvSpPr>
        <p:spPr>
          <a:xfrm>
            <a:off x="822960" y="2468880"/>
            <a:ext cx="1572768" cy="329184"/>
          </a:xfrm>
          <a:prstGeom prst="rect">
            <a:avLst/>
          </a:prstGeom>
          <a:noFill/>
          <a:ln/>
        </p:spPr>
        <p:txBody>
          <a:bodyPr wrap="square" lIns="0" tIns="0" rIns="0" bIns="0" rtlCol="0" anchor="ctr"/>
          <a:lstStyle/>
          <a:p>
            <a:pPr algn="ctr" indent="0" marL="0">
              <a:buNone/>
            </a:pPr>
            <a:r>
              <a:rPr lang="en-US" sz="850" b="1" dirty="0">
                <a:solidFill>
                  <a:srgbClr val="FB7185"/>
                </a:solidFill>
                <a:latin typeface="Calibri" pitchFamily="34" charset="0"/>
                <a:ea typeface="Calibri" pitchFamily="34" charset="-122"/>
                <a:cs typeface="Calibri" pitchFamily="34" charset="-120"/>
              </a:rPr>
              <a:t>REFUTED</a:t>
            </a:r>
            <a:endParaRPr lang="en-US" sz="850" dirty="0"/>
          </a:p>
        </p:txBody>
      </p:sp>
      <p:sp>
        <p:nvSpPr>
          <p:cNvPr id="12" name="Text 10"/>
          <p:cNvSpPr/>
          <p:nvPr/>
        </p:nvSpPr>
        <p:spPr>
          <a:xfrm>
            <a:off x="2487168" y="2468880"/>
            <a:ext cx="502920" cy="329184"/>
          </a:xfrm>
          <a:prstGeom prst="rect">
            <a:avLst/>
          </a:prstGeom>
          <a:noFill/>
          <a:ln/>
        </p:spPr>
        <p:txBody>
          <a:bodyPr wrap="square" lIns="0" tIns="0" rIns="0" bIns="0" rtlCol="0" anchor="ctr"/>
          <a:lstStyle/>
          <a:p>
            <a:pPr indent="0" marL="0">
              <a:buNone/>
            </a:pPr>
            <a:r>
              <a:rPr lang="en-US" sz="1300" b="1" dirty="0">
                <a:solidFill>
                  <a:srgbClr val="FB7185"/>
                </a:solidFill>
                <a:latin typeface="Calibri" pitchFamily="34" charset="0"/>
                <a:ea typeface="Calibri" pitchFamily="34" charset="-122"/>
                <a:cs typeface="Calibri" pitchFamily="34" charset="-120"/>
              </a:rPr>
              <a:t>0.85</a:t>
            </a:r>
            <a:endParaRPr lang="en-US" sz="1300" dirty="0"/>
          </a:p>
        </p:txBody>
      </p:sp>
      <p:sp>
        <p:nvSpPr>
          <p:cNvPr id="13" name="Text 11"/>
          <p:cNvSpPr/>
          <p:nvPr/>
        </p:nvSpPr>
        <p:spPr>
          <a:xfrm>
            <a:off x="3054096" y="2468880"/>
            <a:ext cx="2834640" cy="329184"/>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"The Eiffel Tower is in Rome, Italy"</a:t>
            </a:r>
            <a:endParaRPr lang="en-US" sz="1000" dirty="0"/>
          </a:p>
        </p:txBody>
      </p:sp>
      <p:sp>
        <p:nvSpPr>
          <p:cNvPr id="14" name="Shape 12"/>
          <p:cNvSpPr/>
          <p:nvPr/>
        </p:nvSpPr>
        <p:spPr>
          <a:xfrm>
            <a:off x="822960" y="3017520"/>
            <a:ext cx="1572768" cy="329184"/>
          </a:xfrm>
          <a:prstGeom prst="roundRect">
            <a:avLst>
              <a:gd name="adj" fmla="val 16667"/>
            </a:avLst>
          </a:prstGeom>
          <a:solidFill>
            <a:srgbClr val="FBBF24">
              <a:alpha val="18000"/>
            </a:srgbClr>
          </a:solidFill>
          <a:ln w="9525">
            <a:solidFill>
              <a:srgbClr val="FBBF24"/>
            </a:solidFill>
            <a:prstDash val="solid"/>
          </a:ln>
        </p:spPr>
      </p:sp>
      <p:sp>
        <p:nvSpPr>
          <p:cNvPr id="15" name="Text 13"/>
          <p:cNvSpPr/>
          <p:nvPr/>
        </p:nvSpPr>
        <p:spPr>
          <a:xfrm>
            <a:off x="822960" y="3017520"/>
            <a:ext cx="1572768" cy="329184"/>
          </a:xfrm>
          <a:prstGeom prst="rect">
            <a:avLst/>
          </a:prstGeom>
          <a:noFill/>
          <a:ln/>
        </p:spPr>
        <p:txBody>
          <a:bodyPr wrap="square" lIns="0" tIns="0" rIns="0" bIns="0" rtlCol="0" anchor="ctr"/>
          <a:lstStyle/>
          <a:p>
            <a:pPr algn="ctr" indent="0" marL="0">
              <a:buNone/>
            </a:pPr>
            <a:r>
              <a:rPr lang="en-US" sz="850" b="1" dirty="0">
                <a:solidFill>
                  <a:srgbClr val="FBBF24"/>
                </a:solidFill>
                <a:latin typeface="Calibri" pitchFamily="34" charset="0"/>
                <a:ea typeface="Calibri" pitchFamily="34" charset="-122"/>
                <a:cs typeface="Calibri" pitchFamily="34" charset="-120"/>
              </a:rPr>
              <a:t>NOT ESTABLISHED</a:t>
            </a:r>
            <a:endParaRPr lang="en-US" sz="850" dirty="0"/>
          </a:p>
        </p:txBody>
      </p:sp>
      <p:sp>
        <p:nvSpPr>
          <p:cNvPr id="16" name="Text 14"/>
          <p:cNvSpPr/>
          <p:nvPr/>
        </p:nvSpPr>
        <p:spPr>
          <a:xfrm>
            <a:off x="2487168" y="3017520"/>
            <a:ext cx="502920" cy="329184"/>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0.30</a:t>
            </a:r>
            <a:endParaRPr lang="en-US" sz="1300" dirty="0"/>
          </a:p>
        </p:txBody>
      </p:sp>
      <p:sp>
        <p:nvSpPr>
          <p:cNvPr id="17" name="Text 15"/>
          <p:cNvSpPr/>
          <p:nvPr/>
        </p:nvSpPr>
        <p:spPr>
          <a:xfrm>
            <a:off x="3054096" y="3017520"/>
            <a:ext cx="2834640" cy="329184"/>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Thin evidence → the system abstains</a:t>
            </a:r>
            <a:endParaRPr lang="en-US" sz="1000" dirty="0"/>
          </a:p>
        </p:txBody>
      </p:sp>
      <p:sp>
        <p:nvSpPr>
          <p:cNvPr id="18" name="Shape 16"/>
          <p:cNvSpPr/>
          <p:nvPr/>
        </p:nvSpPr>
        <p:spPr>
          <a:xfrm>
            <a:off x="6309360" y="1371600"/>
            <a:ext cx="5303520" cy="2286000"/>
          </a:xfrm>
          <a:prstGeom prst="roundRect">
            <a:avLst>
              <a:gd name="adj" fmla="val 4800"/>
            </a:avLst>
          </a:prstGeom>
          <a:solidFill>
            <a:srgbClr val="1C1C34"/>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19" name="Shape 17"/>
          <p:cNvSpPr/>
          <p:nvPr/>
        </p:nvSpPr>
        <p:spPr>
          <a:xfrm>
            <a:off x="6583680" y="1554480"/>
            <a:ext cx="310896" cy="310896"/>
          </a:xfrm>
          <a:prstGeom prst="ellipse">
            <a:avLst/>
          </a:prstGeom>
          <a:solidFill>
            <a:srgbClr val="8B5CF6"/>
          </a:solidFill>
          <a:ln w="12700">
            <a:solidFill>
              <a:srgbClr val="8B5CF6"/>
            </a:solidFill>
            <a:prstDash val="solid"/>
          </a:ln>
        </p:spPr>
      </p:sp>
      <p:sp>
        <p:nvSpPr>
          <p:cNvPr id="20" name="Text 18"/>
          <p:cNvSpPr/>
          <p:nvPr/>
        </p:nvSpPr>
        <p:spPr>
          <a:xfrm>
            <a:off x="6583680" y="1554480"/>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6995160" y="1536192"/>
            <a:ext cx="4389120" cy="310896"/>
          </a:xfrm>
          <a:prstGeom prst="rect">
            <a:avLst/>
          </a:prstGeom>
          <a:noFill/>
          <a:ln/>
        </p:spPr>
        <p:txBody>
          <a:bodyPr wrap="square" lIns="0" tIns="0" rIns="0" bIns="0" rtlCol="0" anchor="ctr"/>
          <a:lstStyle/>
          <a:p>
            <a:pPr indent="0" marL="0">
              <a:buNone/>
            </a:pPr>
            <a:r>
              <a:rPr lang="en-US" sz="1250" b="1" dirty="0">
                <a:solidFill>
                  <a:srgbClr val="8B5CF6"/>
                </a:solidFill>
                <a:latin typeface="Calibri" pitchFamily="34" charset="0"/>
                <a:ea typeface="Calibri" pitchFamily="34" charset="-122"/>
                <a:cs typeface="Calibri" pitchFamily="34" charset="-120"/>
              </a:rPr>
              <a:t>It distinguishes the real thing from replicas</a:t>
            </a:r>
            <a:endParaRPr lang="en-US" sz="1250" dirty="0"/>
          </a:p>
        </p:txBody>
      </p:sp>
      <p:sp>
        <p:nvSpPr>
          <p:cNvPr id="22" name="Text 20"/>
          <p:cNvSpPr/>
          <p:nvPr/>
        </p:nvSpPr>
        <p:spPr>
          <a:xfrm>
            <a:off x="6629400" y="1938528"/>
            <a:ext cx="4754880" cy="566928"/>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Verifying the Eiffel Tower, retrieval also surfaced Paris, Texas's Eiffel Tower and a Las Vegas half-scale replica.</a:t>
            </a:r>
            <a:endParaRPr lang="en-US" sz="1100" dirty="0"/>
          </a:p>
        </p:txBody>
      </p:sp>
      <p:sp>
        <p:nvSpPr>
          <p:cNvPr id="23" name="Text 21"/>
          <p:cNvSpPr/>
          <p:nvPr/>
        </p:nvSpPr>
        <p:spPr>
          <a:xfrm>
            <a:off x="6629400" y="2542032"/>
            <a:ext cx="4754880" cy="685800"/>
          </a:xfrm>
          <a:prstGeom prst="rect">
            <a:avLst/>
          </a:prstGeom>
          <a:noFill/>
          <a:ln/>
        </p:spPr>
        <p:txBody>
          <a:bodyPr wrap="square" lIns="0" tIns="0" rIns="0" bIns="0" rtlCol="0" anchor="ctr"/>
          <a:lstStyle/>
          <a:p>
            <a:pPr indent="0" marL="0">
              <a:buNone/>
            </a:pPr>
            <a:r>
              <a:rPr lang="en-US" sz="1100" dirty="0">
                <a:solidFill>
                  <a:srgbClr val="F4F4F5"/>
                </a:solidFill>
                <a:latin typeface="Calibri" pitchFamily="34" charset="0"/>
                <a:ea typeface="Calibri" pitchFamily="34" charset="-122"/>
                <a:cs typeface="Calibri" pitchFamily="34" charset="-120"/>
              </a:rPr>
              <a:t>Both were scored as weak refutations — 0.10 — not confused for the subject. All three collapsed to ONE independent cluster (same domain).</a:t>
            </a:r>
            <a:endParaRPr lang="en-US" sz="1100" dirty="0"/>
          </a:p>
        </p:txBody>
      </p:sp>
      <p:sp>
        <p:nvSpPr>
          <p:cNvPr id="24" name="Text 22"/>
          <p:cNvSpPr/>
          <p:nvPr/>
        </p:nvSpPr>
        <p:spPr>
          <a:xfrm>
            <a:off x="6629400" y="3255264"/>
            <a:ext cx="4754880" cy="274320"/>
          </a:xfrm>
          <a:prstGeom prst="rect">
            <a:avLst/>
          </a:prstGeom>
          <a:noFill/>
          <a:ln/>
        </p:spPr>
        <p:txBody>
          <a:bodyPr wrap="square" lIns="0" tIns="0" rIns="0" bIns="0" rtlCol="0" anchor="ctr"/>
          <a:lstStyle/>
          <a:p>
            <a:pPr indent="0" marL="0">
              <a:buNone/>
            </a:pPr>
            <a:r>
              <a:rPr lang="en-US" sz="1050" i="1" dirty="0">
                <a:solidFill>
                  <a:srgbClr val="22D3EE"/>
                </a:solidFill>
                <a:latin typeface="Calibri" pitchFamily="34" charset="0"/>
                <a:ea typeface="Calibri" pitchFamily="34" charset="-122"/>
                <a:cs typeface="Calibri" pitchFamily="34" charset="-120"/>
              </a:rPr>
              <a:t>Entailment scoring, not keyword overlap.</a:t>
            </a:r>
            <a:endParaRPr lang="en-US" sz="1050" dirty="0"/>
          </a:p>
        </p:txBody>
      </p:sp>
      <p:sp>
        <p:nvSpPr>
          <p:cNvPr id="25" name="Shape 23"/>
          <p:cNvSpPr/>
          <p:nvPr/>
        </p:nvSpPr>
        <p:spPr>
          <a:xfrm>
            <a:off x="548640" y="3840480"/>
            <a:ext cx="11064240" cy="1234440"/>
          </a:xfrm>
          <a:prstGeom prst="roundRect">
            <a:avLst>
              <a:gd name="adj" fmla="val 8889"/>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26" name="Shape 24"/>
          <p:cNvSpPr/>
          <p:nvPr/>
        </p:nvSpPr>
        <p:spPr>
          <a:xfrm>
            <a:off x="777240" y="4096512"/>
            <a:ext cx="146304" cy="146304"/>
          </a:xfrm>
          <a:prstGeom prst="ellipse">
            <a:avLst/>
          </a:prstGeom>
          <a:solidFill>
            <a:srgbClr val="34D399"/>
          </a:solidFill>
          <a:ln w="12700">
            <a:solidFill>
              <a:srgbClr val="333333"/>
            </a:solidFill>
            <a:prstDash val="solid"/>
          </a:ln>
        </p:spPr>
      </p:sp>
      <p:sp>
        <p:nvSpPr>
          <p:cNvPr id="27" name="Text 25"/>
          <p:cNvSpPr/>
          <p:nvPr/>
        </p:nvSpPr>
        <p:spPr>
          <a:xfrm>
            <a:off x="1033272" y="4041648"/>
            <a:ext cx="3291840" cy="274320"/>
          </a:xfrm>
          <a:prstGeom prst="rect">
            <a:avLst/>
          </a:prstGeom>
          <a:noFill/>
          <a:ln/>
        </p:spPr>
        <p:txBody>
          <a:bodyPr wrap="square" lIns="0" tIns="0" rIns="0" bIns="0" rtlCol="0" anchor="ctr"/>
          <a:lstStyle/>
          <a:p>
            <a:pPr indent="0" marL="0">
              <a:buNone/>
            </a:pPr>
            <a:r>
              <a:rPr lang="en-US" sz="1150" dirty="0">
                <a:solidFill>
                  <a:srgbClr val="F4F4F5"/>
                </a:solidFill>
                <a:latin typeface="Calibri" pitchFamily="34" charset="0"/>
                <a:ea typeface="Calibri" pitchFamily="34" charset="-122"/>
                <a:cs typeface="Calibri" pitchFamily="34" charset="-120"/>
              </a:rPr>
              <a:t>Live SSE pipeline stream</a:t>
            </a:r>
            <a:endParaRPr lang="en-US" sz="1150" dirty="0"/>
          </a:p>
        </p:txBody>
      </p:sp>
      <p:sp>
        <p:nvSpPr>
          <p:cNvPr id="28" name="Shape 26"/>
          <p:cNvSpPr/>
          <p:nvPr/>
        </p:nvSpPr>
        <p:spPr>
          <a:xfrm>
            <a:off x="4434840" y="4096512"/>
            <a:ext cx="146304" cy="146304"/>
          </a:xfrm>
          <a:prstGeom prst="ellipse">
            <a:avLst/>
          </a:prstGeom>
          <a:solidFill>
            <a:srgbClr val="34D399"/>
          </a:solidFill>
          <a:ln w="12700">
            <a:solidFill>
              <a:srgbClr val="333333"/>
            </a:solidFill>
            <a:prstDash val="solid"/>
          </a:ln>
        </p:spPr>
      </p:sp>
      <p:sp>
        <p:nvSpPr>
          <p:cNvPr id="29" name="Text 27"/>
          <p:cNvSpPr/>
          <p:nvPr/>
        </p:nvSpPr>
        <p:spPr>
          <a:xfrm>
            <a:off x="4690872" y="4041648"/>
            <a:ext cx="3291840" cy="274320"/>
          </a:xfrm>
          <a:prstGeom prst="rect">
            <a:avLst/>
          </a:prstGeom>
          <a:noFill/>
          <a:ln/>
        </p:spPr>
        <p:txBody>
          <a:bodyPr wrap="square" lIns="0" tIns="0" rIns="0" bIns="0" rtlCol="0" anchor="ctr"/>
          <a:lstStyle/>
          <a:p>
            <a:pPr indent="0" marL="0">
              <a:buNone/>
            </a:pPr>
            <a:r>
              <a:rPr lang="en-US" sz="1150" dirty="0">
                <a:solidFill>
                  <a:srgbClr val="F4F4F5"/>
                </a:solidFill>
                <a:latin typeface="Calibri" pitchFamily="34" charset="0"/>
                <a:ea typeface="Calibri" pitchFamily="34" charset="-122"/>
                <a:cs typeface="Calibri" pitchFamily="34" charset="-120"/>
              </a:rPr>
              <a:t>Per-claim trust heatmap</a:t>
            </a:r>
            <a:endParaRPr lang="en-US" sz="1150" dirty="0"/>
          </a:p>
        </p:txBody>
      </p:sp>
      <p:sp>
        <p:nvSpPr>
          <p:cNvPr id="30" name="Shape 28"/>
          <p:cNvSpPr/>
          <p:nvPr/>
        </p:nvSpPr>
        <p:spPr>
          <a:xfrm>
            <a:off x="8092440" y="4096512"/>
            <a:ext cx="146304" cy="146304"/>
          </a:xfrm>
          <a:prstGeom prst="ellipse">
            <a:avLst/>
          </a:prstGeom>
          <a:solidFill>
            <a:srgbClr val="34D399"/>
          </a:solidFill>
          <a:ln w="12700">
            <a:solidFill>
              <a:srgbClr val="333333"/>
            </a:solidFill>
            <a:prstDash val="solid"/>
          </a:ln>
        </p:spPr>
      </p:sp>
      <p:sp>
        <p:nvSpPr>
          <p:cNvPr id="31" name="Text 29"/>
          <p:cNvSpPr/>
          <p:nvPr/>
        </p:nvSpPr>
        <p:spPr>
          <a:xfrm>
            <a:off x="8348472" y="4041648"/>
            <a:ext cx="3291840" cy="274320"/>
          </a:xfrm>
          <a:prstGeom prst="rect">
            <a:avLst/>
          </a:prstGeom>
          <a:noFill/>
          <a:ln/>
        </p:spPr>
        <p:txBody>
          <a:bodyPr wrap="square" lIns="0" tIns="0" rIns="0" bIns="0" rtlCol="0" anchor="ctr"/>
          <a:lstStyle/>
          <a:p>
            <a:pPr indent="0" marL="0">
              <a:buNone/>
            </a:pPr>
            <a:r>
              <a:rPr lang="en-US" sz="1150" dirty="0">
                <a:solidFill>
                  <a:srgbClr val="F4F4F5"/>
                </a:solidFill>
                <a:latin typeface="Calibri" pitchFamily="34" charset="0"/>
                <a:ea typeface="Calibri" pitchFamily="34" charset="-122"/>
                <a:cs typeface="Calibri" pitchFamily="34" charset="-120"/>
              </a:rPr>
              <a:t>Interactive evidence graph</a:t>
            </a:r>
            <a:endParaRPr lang="en-US" sz="1150" dirty="0"/>
          </a:p>
        </p:txBody>
      </p:sp>
      <p:sp>
        <p:nvSpPr>
          <p:cNvPr id="32" name="Shape 30"/>
          <p:cNvSpPr/>
          <p:nvPr/>
        </p:nvSpPr>
        <p:spPr>
          <a:xfrm>
            <a:off x="777240" y="4535424"/>
            <a:ext cx="146304" cy="146304"/>
          </a:xfrm>
          <a:prstGeom prst="ellipse">
            <a:avLst/>
          </a:prstGeom>
          <a:solidFill>
            <a:srgbClr val="34D399"/>
          </a:solidFill>
          <a:ln w="12700">
            <a:solidFill>
              <a:srgbClr val="333333"/>
            </a:solidFill>
            <a:prstDash val="solid"/>
          </a:ln>
        </p:spPr>
      </p:sp>
      <p:sp>
        <p:nvSpPr>
          <p:cNvPr id="33" name="Text 31"/>
          <p:cNvSpPr/>
          <p:nvPr/>
        </p:nvSpPr>
        <p:spPr>
          <a:xfrm>
            <a:off x="1033272" y="4480560"/>
            <a:ext cx="3291840" cy="274320"/>
          </a:xfrm>
          <a:prstGeom prst="rect">
            <a:avLst/>
          </a:prstGeom>
          <a:noFill/>
          <a:ln/>
        </p:spPr>
        <p:txBody>
          <a:bodyPr wrap="square" lIns="0" tIns="0" rIns="0" bIns="0" rtlCol="0" anchor="ctr"/>
          <a:lstStyle/>
          <a:p>
            <a:pPr indent="0" marL="0">
              <a:buNone/>
            </a:pPr>
            <a:r>
              <a:rPr lang="en-US" sz="1150" dirty="0">
                <a:solidFill>
                  <a:srgbClr val="F4F4F5"/>
                </a:solidFill>
                <a:latin typeface="Calibri" pitchFamily="34" charset="0"/>
                <a:ea typeface="Calibri" pitchFamily="34" charset="-122"/>
                <a:cs typeface="Calibri" pitchFamily="34" charset="-120"/>
              </a:rPr>
              <a:t>Confidence explainer</a:t>
            </a:r>
            <a:endParaRPr lang="en-US" sz="1150" dirty="0"/>
          </a:p>
        </p:txBody>
      </p:sp>
      <p:sp>
        <p:nvSpPr>
          <p:cNvPr id="34" name="Shape 32"/>
          <p:cNvSpPr/>
          <p:nvPr/>
        </p:nvSpPr>
        <p:spPr>
          <a:xfrm>
            <a:off x="4434840" y="4535424"/>
            <a:ext cx="146304" cy="146304"/>
          </a:xfrm>
          <a:prstGeom prst="ellipse">
            <a:avLst/>
          </a:prstGeom>
          <a:solidFill>
            <a:srgbClr val="34D399"/>
          </a:solidFill>
          <a:ln w="12700">
            <a:solidFill>
              <a:srgbClr val="333333"/>
            </a:solidFill>
            <a:prstDash val="solid"/>
          </a:ln>
        </p:spPr>
      </p:sp>
      <p:sp>
        <p:nvSpPr>
          <p:cNvPr id="35" name="Text 33"/>
          <p:cNvSpPr/>
          <p:nvPr/>
        </p:nvSpPr>
        <p:spPr>
          <a:xfrm>
            <a:off x="4690872" y="4480560"/>
            <a:ext cx="3291840" cy="274320"/>
          </a:xfrm>
          <a:prstGeom prst="rect">
            <a:avLst/>
          </a:prstGeom>
          <a:noFill/>
          <a:ln/>
        </p:spPr>
        <p:txBody>
          <a:bodyPr wrap="square" lIns="0" tIns="0" rIns="0" bIns="0" rtlCol="0" anchor="ctr"/>
          <a:lstStyle/>
          <a:p>
            <a:pPr indent="0" marL="0">
              <a:buNone/>
            </a:pPr>
            <a:r>
              <a:rPr lang="en-US" sz="1150" dirty="0">
                <a:solidFill>
                  <a:srgbClr val="F4F4F5"/>
                </a:solidFill>
                <a:latin typeface="Calibri" pitchFamily="34" charset="0"/>
                <a:ea typeface="Calibri" pitchFamily="34" charset="-122"/>
                <a:cs typeface="Calibri" pitchFamily="34" charset="-120"/>
              </a:rPr>
              <a:t>Citation-backed report</a:t>
            </a:r>
            <a:endParaRPr lang="en-US" sz="1150" dirty="0"/>
          </a:p>
        </p:txBody>
      </p:sp>
      <p:sp>
        <p:nvSpPr>
          <p:cNvPr id="36" name="Shape 34"/>
          <p:cNvSpPr/>
          <p:nvPr/>
        </p:nvSpPr>
        <p:spPr>
          <a:xfrm>
            <a:off x="8092440" y="4535424"/>
            <a:ext cx="146304" cy="146304"/>
          </a:xfrm>
          <a:prstGeom prst="ellipse">
            <a:avLst/>
          </a:prstGeom>
          <a:solidFill>
            <a:srgbClr val="34D399"/>
          </a:solidFill>
          <a:ln w="12700">
            <a:solidFill>
              <a:srgbClr val="333333"/>
            </a:solidFill>
            <a:prstDash val="solid"/>
          </a:ln>
        </p:spPr>
      </p:sp>
      <p:sp>
        <p:nvSpPr>
          <p:cNvPr id="37" name="Text 35"/>
          <p:cNvSpPr/>
          <p:nvPr/>
        </p:nvSpPr>
        <p:spPr>
          <a:xfrm>
            <a:off x="8348472" y="4480560"/>
            <a:ext cx="3291840" cy="274320"/>
          </a:xfrm>
          <a:prstGeom prst="rect">
            <a:avLst/>
          </a:prstGeom>
          <a:noFill/>
          <a:ln/>
        </p:spPr>
        <p:txBody>
          <a:bodyPr wrap="square" lIns="0" tIns="0" rIns="0" bIns="0" rtlCol="0" anchor="ctr"/>
          <a:lstStyle/>
          <a:p>
            <a:pPr indent="0" marL="0">
              <a:buNone/>
            </a:pPr>
            <a:r>
              <a:rPr lang="en-US" sz="1150" dirty="0">
                <a:solidFill>
                  <a:srgbClr val="F4F4F5"/>
                </a:solidFill>
                <a:latin typeface="Calibri" pitchFamily="34" charset="0"/>
                <a:ea typeface="Calibri" pitchFamily="34" charset="-122"/>
                <a:cs typeface="Calibri" pitchFamily="34" charset="-120"/>
              </a:rPr>
              <a:t>Minority reports preserved</a:t>
            </a:r>
            <a:endParaRPr lang="en-US" sz="1150" dirty="0"/>
          </a:p>
        </p:txBody>
      </p:sp>
      <p:sp>
        <p:nvSpPr>
          <p:cNvPr id="38" name="Text 36"/>
          <p:cNvSpPr/>
          <p:nvPr/>
        </p:nvSpPr>
        <p:spPr>
          <a:xfrm>
            <a:off x="548640" y="5212080"/>
            <a:ext cx="2194560" cy="658368"/>
          </a:xfrm>
          <a:prstGeom prst="rect">
            <a:avLst/>
          </a:prstGeom>
          <a:noFill/>
          <a:ln/>
        </p:spPr>
        <p:txBody>
          <a:bodyPr wrap="square" lIns="0" tIns="0" rIns="0" bIns="0" rtlCol="0" anchor="ctr"/>
          <a:lstStyle/>
          <a:p>
            <a:pPr algn="ctr" indent="0" marL="0">
              <a:buNone/>
            </a:pPr>
            <a:r>
              <a:rPr lang="en-US" sz="4000" b="1" dirty="0">
                <a:solidFill>
                  <a:srgbClr val="22D3EE"/>
                </a:solidFill>
                <a:latin typeface="Calibri" pitchFamily="34" charset="0"/>
                <a:ea typeface="Calibri" pitchFamily="34" charset="-122"/>
                <a:cs typeface="Calibri" pitchFamily="34" charset="-120"/>
              </a:rPr>
              <a:t>248s</a:t>
            </a:r>
            <a:endParaRPr lang="en-US" sz="4000" dirty="0"/>
          </a:p>
        </p:txBody>
      </p:sp>
      <p:sp>
        <p:nvSpPr>
          <p:cNvPr id="39" name="Text 37"/>
          <p:cNvSpPr/>
          <p:nvPr/>
        </p:nvSpPr>
        <p:spPr>
          <a:xfrm>
            <a:off x="548640" y="5852160"/>
            <a:ext cx="2194560" cy="45720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full research run</a:t>
            </a:r>
            <a:endParaRPr lang="en-US" sz="1100" dirty="0"/>
          </a:p>
        </p:txBody>
      </p:sp>
      <p:sp>
        <p:nvSpPr>
          <p:cNvPr id="40" name="Text 38"/>
          <p:cNvSpPr/>
          <p:nvPr/>
        </p:nvSpPr>
        <p:spPr>
          <a:xfrm>
            <a:off x="2834640" y="5212080"/>
            <a:ext cx="2194560" cy="658368"/>
          </a:xfrm>
          <a:prstGeom prst="rect">
            <a:avLst/>
          </a:prstGeom>
          <a:noFill/>
          <a:ln/>
        </p:spPr>
        <p:txBody>
          <a:bodyPr wrap="square" lIns="0" tIns="0" rIns="0" bIns="0" rtlCol="0" anchor="ctr"/>
          <a:lstStyle/>
          <a:p>
            <a:pPr algn="ctr" indent="0" marL="0">
              <a:buNone/>
            </a:pPr>
            <a:r>
              <a:rPr lang="en-US" sz="4000" b="1" dirty="0">
                <a:solidFill>
                  <a:srgbClr val="8B5CF6"/>
                </a:solidFill>
                <a:latin typeface="Calibri" pitchFamily="34" charset="0"/>
                <a:ea typeface="Calibri" pitchFamily="34" charset="-122"/>
                <a:cs typeface="Calibri" pitchFamily="34" charset="-120"/>
              </a:rPr>
              <a:t>24</a:t>
            </a:r>
            <a:endParaRPr lang="en-US" sz="4000" dirty="0"/>
          </a:p>
        </p:txBody>
      </p:sp>
      <p:sp>
        <p:nvSpPr>
          <p:cNvPr id="41" name="Text 39"/>
          <p:cNvSpPr/>
          <p:nvPr/>
        </p:nvSpPr>
        <p:spPr>
          <a:xfrm>
            <a:off x="2834640" y="5852160"/>
            <a:ext cx="2194560" cy="45720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sources / 15 domains</a:t>
            </a:r>
            <a:endParaRPr lang="en-US" sz="1100" dirty="0"/>
          </a:p>
        </p:txBody>
      </p:sp>
      <p:sp>
        <p:nvSpPr>
          <p:cNvPr id="42" name="Text 40"/>
          <p:cNvSpPr/>
          <p:nvPr/>
        </p:nvSpPr>
        <p:spPr>
          <a:xfrm>
            <a:off x="5120640" y="5212080"/>
            <a:ext cx="2194560" cy="658368"/>
          </a:xfrm>
          <a:prstGeom prst="rect">
            <a:avLst/>
          </a:prstGeom>
          <a:noFill/>
          <a:ln/>
        </p:spPr>
        <p:txBody>
          <a:bodyPr wrap="square" lIns="0" tIns="0" rIns="0" bIns="0" rtlCol="0" anchor="ctr"/>
          <a:lstStyle/>
          <a:p>
            <a:pPr algn="ctr" indent="0" marL="0">
              <a:buNone/>
            </a:pPr>
            <a:r>
              <a:rPr lang="en-US" sz="4000" b="1" dirty="0">
                <a:solidFill>
                  <a:srgbClr val="34D399"/>
                </a:solidFill>
                <a:latin typeface="Calibri" pitchFamily="34" charset="0"/>
                <a:ea typeface="Calibri" pitchFamily="34" charset="-122"/>
                <a:cs typeface="Calibri" pitchFamily="34" charset="-120"/>
              </a:rPr>
              <a:t>44</a:t>
            </a:r>
            <a:endParaRPr lang="en-US" sz="4000" dirty="0"/>
          </a:p>
        </p:txBody>
      </p:sp>
      <p:sp>
        <p:nvSpPr>
          <p:cNvPr id="43" name="Text 41"/>
          <p:cNvSpPr/>
          <p:nvPr/>
        </p:nvSpPr>
        <p:spPr>
          <a:xfrm>
            <a:off x="5120640" y="5852160"/>
            <a:ext cx="2194560" cy="45720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model calls / run</a:t>
            </a:r>
            <a:endParaRPr lang="en-US" sz="1100" dirty="0"/>
          </a:p>
        </p:txBody>
      </p:sp>
      <p:sp>
        <p:nvSpPr>
          <p:cNvPr id="44" name="Text 42"/>
          <p:cNvSpPr/>
          <p:nvPr/>
        </p:nvSpPr>
        <p:spPr>
          <a:xfrm>
            <a:off x="7406640" y="5212080"/>
            <a:ext cx="2103120" cy="658368"/>
          </a:xfrm>
          <a:prstGeom prst="rect">
            <a:avLst/>
          </a:prstGeom>
          <a:noFill/>
          <a:ln/>
        </p:spPr>
        <p:txBody>
          <a:bodyPr wrap="square" lIns="0" tIns="0" rIns="0" bIns="0" rtlCol="0" anchor="ctr"/>
          <a:lstStyle/>
          <a:p>
            <a:pPr algn="ctr" indent="0" marL="0">
              <a:buNone/>
            </a:pPr>
            <a:r>
              <a:rPr lang="en-US" sz="4000" b="1" dirty="0">
                <a:solidFill>
                  <a:srgbClr val="FBBF24"/>
                </a:solidFill>
                <a:latin typeface="Calibri" pitchFamily="34" charset="0"/>
                <a:ea typeface="Calibri" pitchFamily="34" charset="-122"/>
                <a:cs typeface="Calibri" pitchFamily="34" charset="-120"/>
              </a:rPr>
              <a:t>5</a:t>
            </a:r>
            <a:endParaRPr lang="en-US" sz="4000" dirty="0"/>
          </a:p>
        </p:txBody>
      </p:sp>
      <p:sp>
        <p:nvSpPr>
          <p:cNvPr id="45" name="Text 43"/>
          <p:cNvSpPr/>
          <p:nvPr/>
        </p:nvSpPr>
        <p:spPr>
          <a:xfrm>
            <a:off x="7406640" y="5852160"/>
            <a:ext cx="2103120" cy="45720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tabs, fully live</a:t>
            </a:r>
            <a:endParaRPr lang="en-US" sz="1100" dirty="0"/>
          </a:p>
        </p:txBody>
      </p:sp>
      <p:sp>
        <p:nvSpPr>
          <p:cNvPr id="46" name="Text 44"/>
          <p:cNvSpPr/>
          <p:nvPr/>
        </p:nvSpPr>
        <p:spPr>
          <a:xfrm>
            <a:off x="9418320" y="5394960"/>
            <a:ext cx="2194560" cy="292608"/>
          </a:xfrm>
          <a:prstGeom prst="rect">
            <a:avLst/>
          </a:prstGeom>
          <a:noFill/>
          <a:ln/>
        </p:spPr>
        <p:txBody>
          <a:bodyPr wrap="square" lIns="0" tIns="0" rIns="0" bIns="0" rtlCol="0" anchor="ctr"/>
          <a:lstStyle/>
          <a:p>
            <a:pPr algn="ctr" indent="0" marL="0">
              <a:buNone/>
            </a:pPr>
            <a:r>
              <a:rPr lang="en-US" sz="1200" b="1" dirty="0">
                <a:solidFill>
                  <a:srgbClr val="22D3EE"/>
                </a:solidFill>
                <a:latin typeface="Calibri" pitchFamily="34" charset="0"/>
                <a:ea typeface="Calibri" pitchFamily="34" charset="-122"/>
                <a:cs typeface="Calibri" pitchFamily="34" charset="-120"/>
              </a:rPr>
              <a:t>innova-hackathon</a:t>
            </a:r>
            <a:endParaRPr lang="en-US" sz="1200" dirty="0"/>
          </a:p>
        </p:txBody>
      </p:sp>
      <p:sp>
        <p:nvSpPr>
          <p:cNvPr id="47" name="Text 45"/>
          <p:cNvSpPr/>
          <p:nvPr/>
        </p:nvSpPr>
        <p:spPr>
          <a:xfrm>
            <a:off x="9418320" y="5669280"/>
            <a:ext cx="2194560" cy="274320"/>
          </a:xfrm>
          <a:prstGeom prst="rect">
            <a:avLst/>
          </a:prstGeom>
          <a:noFill/>
          <a:ln/>
        </p:spPr>
        <p:txBody>
          <a:bodyPr wrap="square" lIns="0" tIns="0" rIns="0" bIns="0" rtlCol="0" anchor="ctr"/>
          <a:lstStyle/>
          <a:p>
            <a:pPr algn="ctr" indent="0" marL="0">
              <a:buNone/>
            </a:pPr>
            <a:r>
              <a:rPr lang="en-US" sz="1200" b="1" dirty="0">
                <a:solidFill>
                  <a:srgbClr val="22D3EE"/>
                </a:solidFill>
                <a:latin typeface="Calibri" pitchFamily="34" charset="0"/>
                <a:ea typeface="Calibri" pitchFamily="34" charset="-122"/>
                <a:cs typeface="Calibri" pitchFamily="34" charset="-120"/>
              </a:rPr>
              <a:t>.onrender.com</a:t>
            </a:r>
            <a:endParaRPr lang="en-US" sz="1200" dirty="0"/>
          </a:p>
        </p:txBody>
      </p:sp>
      <p:sp>
        <p:nvSpPr>
          <p:cNvPr id="48" name="Text 46"/>
          <p:cNvSpPr/>
          <p:nvPr/>
        </p:nvSpPr>
        <p:spPr>
          <a:xfrm>
            <a:off x="9418320" y="5943600"/>
            <a:ext cx="2194560" cy="256032"/>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deployed &amp; public</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SCALABILITY &amp; REAL-WORLD IMPACT</a:t>
            </a:r>
            <a:endParaRPr lang="en-US" sz="11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3000" b="1" dirty="0">
                <a:solidFill>
                  <a:srgbClr val="F4F4F5"/>
                </a:solidFill>
                <a:latin typeface="Calibri" pitchFamily="34" charset="0"/>
                <a:ea typeface="Calibri" pitchFamily="34" charset="-122"/>
                <a:cs typeface="Calibri" pitchFamily="34" charset="-120"/>
              </a:rPr>
              <a:t>Built to scale, priced to reach everyone</a:t>
            </a:r>
            <a:endParaRPr lang="en-US" sz="3000" dirty="0"/>
          </a:p>
        </p:txBody>
      </p:sp>
      <p:sp>
        <p:nvSpPr>
          <p:cNvPr id="4" name="Shape 2"/>
          <p:cNvSpPr/>
          <p:nvPr/>
        </p:nvSpPr>
        <p:spPr>
          <a:xfrm>
            <a:off x="548640" y="1371600"/>
            <a:ext cx="3566160" cy="1417320"/>
          </a:xfrm>
          <a:prstGeom prst="roundRect">
            <a:avLst>
              <a:gd name="adj" fmla="val 7742"/>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5" name="Shape 3"/>
          <p:cNvSpPr/>
          <p:nvPr/>
        </p:nvSpPr>
        <p:spPr>
          <a:xfrm>
            <a:off x="749808" y="1554480"/>
            <a:ext cx="310896" cy="310896"/>
          </a:xfrm>
          <a:prstGeom prst="ellipse">
            <a:avLst/>
          </a:prstGeom>
          <a:solidFill>
            <a:srgbClr val="FB7185"/>
          </a:solidFill>
          <a:ln w="12700">
            <a:solidFill>
              <a:srgbClr val="FB7185"/>
            </a:solidFill>
            <a:prstDash val="solid"/>
          </a:ln>
        </p:spPr>
      </p:sp>
      <p:sp>
        <p:nvSpPr>
          <p:cNvPr id="6" name="Text 4"/>
          <p:cNvSpPr/>
          <p:nvPr/>
        </p:nvSpPr>
        <p:spPr>
          <a:xfrm>
            <a:off x="749808" y="1554480"/>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152144" y="1545336"/>
            <a:ext cx="2743200" cy="292608"/>
          </a:xfrm>
          <a:prstGeom prst="rect">
            <a:avLst/>
          </a:prstGeom>
          <a:noFill/>
          <a:ln/>
        </p:spPr>
        <p:txBody>
          <a:bodyPr wrap="square" lIns="0" tIns="0" rIns="0" bIns="0" rtlCol="0" anchor="ctr"/>
          <a:lstStyle/>
          <a:p>
            <a:pPr indent="0" marL="0">
              <a:buNone/>
            </a:pPr>
            <a:r>
              <a:rPr lang="en-US" sz="1300" b="1" dirty="0">
                <a:solidFill>
                  <a:srgbClr val="FB7185"/>
                </a:solidFill>
                <a:latin typeface="Calibri" pitchFamily="34" charset="0"/>
                <a:ea typeface="Calibri" pitchFamily="34" charset="-122"/>
                <a:cs typeface="Calibri" pitchFamily="34" charset="-120"/>
              </a:rPr>
              <a:t>Journalism</a:t>
            </a:r>
            <a:endParaRPr lang="en-US" sz="1300" dirty="0"/>
          </a:p>
        </p:txBody>
      </p:sp>
      <p:sp>
        <p:nvSpPr>
          <p:cNvPr id="8" name="Text 6"/>
          <p:cNvSpPr/>
          <p:nvPr/>
        </p:nvSpPr>
        <p:spPr>
          <a:xfrm>
            <a:off x="749808" y="1975104"/>
            <a:ext cx="3154680" cy="68580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Newsroom fact-checking before publication, with per-claim provenance.</a:t>
            </a:r>
            <a:endParaRPr lang="en-US" sz="1050" dirty="0"/>
          </a:p>
        </p:txBody>
      </p:sp>
      <p:sp>
        <p:nvSpPr>
          <p:cNvPr id="9" name="Shape 7"/>
          <p:cNvSpPr/>
          <p:nvPr/>
        </p:nvSpPr>
        <p:spPr>
          <a:xfrm>
            <a:off x="4297680" y="1371600"/>
            <a:ext cx="3566160" cy="1417320"/>
          </a:xfrm>
          <a:prstGeom prst="roundRect">
            <a:avLst>
              <a:gd name="adj" fmla="val 7742"/>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10" name="Shape 8"/>
          <p:cNvSpPr/>
          <p:nvPr/>
        </p:nvSpPr>
        <p:spPr>
          <a:xfrm>
            <a:off x="4498848" y="1554480"/>
            <a:ext cx="310896" cy="310896"/>
          </a:xfrm>
          <a:prstGeom prst="ellipse">
            <a:avLst/>
          </a:prstGeom>
          <a:solidFill>
            <a:srgbClr val="22D3EE"/>
          </a:solidFill>
          <a:ln w="12700">
            <a:solidFill>
              <a:srgbClr val="22D3EE"/>
            </a:solidFill>
            <a:prstDash val="solid"/>
          </a:ln>
        </p:spPr>
      </p:sp>
      <p:sp>
        <p:nvSpPr>
          <p:cNvPr id="11" name="Text 9"/>
          <p:cNvSpPr/>
          <p:nvPr/>
        </p:nvSpPr>
        <p:spPr>
          <a:xfrm>
            <a:off x="4498848" y="1554480"/>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4901184" y="1545336"/>
            <a:ext cx="2743200" cy="292608"/>
          </a:xfrm>
          <a:prstGeom prst="rect">
            <a:avLst/>
          </a:prstGeom>
          <a:noFill/>
          <a:ln/>
        </p:spPr>
        <p:txBody>
          <a:bodyPr wrap="square" lIns="0" tIns="0" rIns="0" bIns="0" rtlCol="0" anchor="ctr"/>
          <a:lstStyle/>
          <a:p>
            <a:pPr indent="0" marL="0">
              <a:buNone/>
            </a:pPr>
            <a:r>
              <a:rPr lang="en-US" sz="1300" b="1" dirty="0">
                <a:solidFill>
                  <a:srgbClr val="22D3EE"/>
                </a:solidFill>
                <a:latin typeface="Calibri" pitchFamily="34" charset="0"/>
                <a:ea typeface="Calibri" pitchFamily="34" charset="-122"/>
                <a:cs typeface="Calibri" pitchFamily="34" charset="-120"/>
              </a:rPr>
              <a:t>Medicine &amp; Law</a:t>
            </a:r>
            <a:endParaRPr lang="en-US" sz="1300" dirty="0"/>
          </a:p>
        </p:txBody>
      </p:sp>
      <p:sp>
        <p:nvSpPr>
          <p:cNvPr id="13" name="Text 11"/>
          <p:cNvSpPr/>
          <p:nvPr/>
        </p:nvSpPr>
        <p:spPr>
          <a:xfrm>
            <a:off x="4498848" y="1975104"/>
            <a:ext cx="3154680" cy="68580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Evidence grading where a confident hallucination causes real harm.</a:t>
            </a:r>
            <a:endParaRPr lang="en-US" sz="1050" dirty="0"/>
          </a:p>
        </p:txBody>
      </p:sp>
      <p:sp>
        <p:nvSpPr>
          <p:cNvPr id="14" name="Shape 12"/>
          <p:cNvSpPr/>
          <p:nvPr/>
        </p:nvSpPr>
        <p:spPr>
          <a:xfrm>
            <a:off x="8046720" y="1371600"/>
            <a:ext cx="3566160" cy="1417320"/>
          </a:xfrm>
          <a:prstGeom prst="roundRect">
            <a:avLst>
              <a:gd name="adj" fmla="val 7742"/>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15" name="Shape 13"/>
          <p:cNvSpPr/>
          <p:nvPr/>
        </p:nvSpPr>
        <p:spPr>
          <a:xfrm>
            <a:off x="8247888" y="1554480"/>
            <a:ext cx="310896" cy="310896"/>
          </a:xfrm>
          <a:prstGeom prst="ellipse">
            <a:avLst/>
          </a:prstGeom>
          <a:solidFill>
            <a:srgbClr val="34D399"/>
          </a:solidFill>
          <a:ln w="12700">
            <a:solidFill>
              <a:srgbClr val="34D399"/>
            </a:solidFill>
            <a:prstDash val="solid"/>
          </a:ln>
        </p:spPr>
      </p:sp>
      <p:sp>
        <p:nvSpPr>
          <p:cNvPr id="16" name="Text 14"/>
          <p:cNvSpPr/>
          <p:nvPr/>
        </p:nvSpPr>
        <p:spPr>
          <a:xfrm>
            <a:off x="8247888" y="1554480"/>
            <a:ext cx="310896" cy="310896"/>
          </a:xfrm>
          <a:prstGeom prst="rect">
            <a:avLst/>
          </a:prstGeom>
          <a:noFill/>
          <a:ln/>
        </p:spPr>
        <p:txBody>
          <a:bodyPr wrap="square" lIns="0" tIns="0" rIns="0" bIns="0" rtlCol="0" anchor="ctr"/>
          <a:lstStyle/>
          <a:p>
            <a:pPr algn="ctr" indent="0" marL="0">
              <a:buNone/>
            </a:pPr>
            <a:r>
              <a:rPr lang="en-US" sz="1300" b="1" dirty="0">
                <a:solidFill>
                  <a:srgbClr val="0A0A12"/>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8650224" y="1545336"/>
            <a:ext cx="2743200" cy="292608"/>
          </a:xfrm>
          <a:prstGeom prst="rect">
            <a:avLst/>
          </a:prstGeom>
          <a:noFill/>
          <a:ln/>
        </p:spPr>
        <p:txBody>
          <a:bodyPr wrap="square" lIns="0" tIns="0" rIns="0" bIns="0" rtlCol="0" anchor="ctr"/>
          <a:lstStyle/>
          <a:p>
            <a:pPr indent="0" marL="0">
              <a:buNone/>
            </a:pPr>
            <a:r>
              <a:rPr lang="en-US" sz="1300" b="1" dirty="0">
                <a:solidFill>
                  <a:srgbClr val="34D399"/>
                </a:solidFill>
                <a:latin typeface="Calibri" pitchFamily="34" charset="0"/>
                <a:ea typeface="Calibri" pitchFamily="34" charset="-122"/>
                <a:cs typeface="Calibri" pitchFamily="34" charset="-120"/>
              </a:rPr>
              <a:t>Research &amp; Academia</a:t>
            </a:r>
            <a:endParaRPr lang="en-US" sz="1300" dirty="0"/>
          </a:p>
        </p:txBody>
      </p:sp>
      <p:sp>
        <p:nvSpPr>
          <p:cNvPr id="18" name="Text 16"/>
          <p:cNvSpPr/>
          <p:nvPr/>
        </p:nvSpPr>
        <p:spPr>
          <a:xfrm>
            <a:off x="8247888" y="1975104"/>
            <a:ext cx="3154680" cy="68580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Literature review with citation integrity and contradiction surfacing.</a:t>
            </a:r>
            <a:endParaRPr lang="en-US" sz="1050" dirty="0"/>
          </a:p>
        </p:txBody>
      </p:sp>
      <p:sp>
        <p:nvSpPr>
          <p:cNvPr id="19" name="Shape 17"/>
          <p:cNvSpPr/>
          <p:nvPr/>
        </p:nvSpPr>
        <p:spPr>
          <a:xfrm>
            <a:off x="548640" y="3063240"/>
            <a:ext cx="5486400" cy="2103120"/>
          </a:xfrm>
          <a:prstGeom prst="roundRect">
            <a:avLst>
              <a:gd name="adj" fmla="val 5217"/>
            </a:avLst>
          </a:prstGeom>
          <a:solidFill>
            <a:srgbClr val="1C1C34"/>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20" name="Text 18"/>
          <p:cNvSpPr/>
          <p:nvPr/>
        </p:nvSpPr>
        <p:spPr>
          <a:xfrm>
            <a:off x="822960" y="3227832"/>
            <a:ext cx="4937760" cy="274320"/>
          </a:xfrm>
          <a:prstGeom prst="rect">
            <a:avLst/>
          </a:prstGeom>
          <a:noFill/>
          <a:ln/>
        </p:spPr>
        <p:txBody>
          <a:bodyPr wrap="square" lIns="0" tIns="0" rIns="0" bIns="0" rtlCol="0" anchor="ctr"/>
          <a:lstStyle/>
          <a:p>
            <a:pPr indent="0" marL="0">
              <a:buNone/>
            </a:pPr>
            <a:r>
              <a:rPr lang="en-US" sz="1300" b="1" dirty="0">
                <a:solidFill>
                  <a:srgbClr val="22D3EE"/>
                </a:solidFill>
                <a:latin typeface="Calibri" pitchFamily="34" charset="0"/>
                <a:ea typeface="Calibri" pitchFamily="34" charset="-122"/>
                <a:cs typeface="Calibri" pitchFamily="34" charset="-120"/>
              </a:rPr>
              <a:t>Scaling path — already architected</a:t>
            </a:r>
            <a:endParaRPr lang="en-US" sz="1300" dirty="0"/>
          </a:p>
        </p:txBody>
      </p:sp>
      <p:sp>
        <p:nvSpPr>
          <p:cNvPr id="21" name="Text 19"/>
          <p:cNvSpPr/>
          <p:nvPr/>
        </p:nvSpPr>
        <p:spPr>
          <a:xfrm>
            <a:off x="868680" y="3611880"/>
            <a:ext cx="4937760" cy="146304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9CA3AF"/>
                </a:solidFill>
                <a:latin typeface="Calibri" pitchFamily="34" charset="0"/>
                <a:ea typeface="Calibri" pitchFamily="34" charset="-122"/>
                <a:cs typeface="Calibri" pitchFamily="34" charset="-120"/>
              </a:rPr>
              <a:t>SQLite → Postgres: connection string, not a rewrite</a:t>
            </a:r>
            <a:endParaRPr lang="en-US" sz="1150" dirty="0"/>
          </a:p>
          <a:p>
            <a:pPr marL="342900" indent="-342900">
              <a:spcAft>
                <a:spcPts val="500"/>
              </a:spcAft>
              <a:buSzPct val="100000"/>
              <a:buChar char="•"/>
            </a:pPr>
            <a:r>
              <a:rPr lang="en-US" sz="1150" dirty="0">
                <a:solidFill>
                  <a:srgbClr val="9CA3AF"/>
                </a:solidFill>
                <a:latin typeface="Calibri" pitchFamily="34" charset="0"/>
                <a:ea typeface="Calibri" pitchFamily="34" charset="-122"/>
                <a:cs typeface="Calibri" pitchFamily="34" charset="-120"/>
              </a:rPr>
              <a:t>NumPy store → pgvector / FAISS behind one interface</a:t>
            </a:r>
            <a:endParaRPr lang="en-US" sz="1150" dirty="0"/>
          </a:p>
          <a:p>
            <a:pPr marL="342900" indent="-342900">
              <a:spcAft>
                <a:spcPts val="500"/>
              </a:spcAft>
              <a:buSzPct val="100000"/>
              <a:buChar char="•"/>
            </a:pPr>
            <a:r>
              <a:rPr lang="en-US" sz="1150" dirty="0">
                <a:solidFill>
                  <a:srgbClr val="9CA3AF"/>
                </a:solidFill>
                <a:latin typeface="Calibri" pitchFamily="34" charset="0"/>
                <a:ea typeface="Calibri" pitchFamily="34" charset="-122"/>
                <a:cs typeface="Calibri" pitchFamily="34" charset="-120"/>
              </a:rPr>
              <a:t>Stateless API — horizontal scaling out of the box</a:t>
            </a:r>
            <a:endParaRPr lang="en-US" sz="1150" dirty="0"/>
          </a:p>
          <a:p>
            <a:pPr marL="342900" indent="-342900">
              <a:spcAft>
                <a:spcPts val="500"/>
              </a:spcAft>
              <a:buSzPct val="100000"/>
              <a:buChar char="•"/>
            </a:pPr>
            <a:r>
              <a:rPr lang="en-US" sz="1150" dirty="0">
                <a:solidFill>
                  <a:srgbClr val="9CA3AF"/>
                </a:solidFill>
                <a:latin typeface="Calibri" pitchFamily="34" charset="0"/>
                <a:ea typeface="Calibri" pitchFamily="34" charset="-122"/>
                <a:cs typeface="Calibri" pitchFamily="34" charset="-120"/>
              </a:rPr>
              <a:t>Checkpointed runs survive restarts mid-flight</a:t>
            </a:r>
            <a:endParaRPr lang="en-US" sz="1150" dirty="0"/>
          </a:p>
          <a:p>
            <a:pPr marL="342900" indent="-342900">
              <a:spcAft>
                <a:spcPts val="500"/>
              </a:spcAft>
              <a:buSzPct val="100000"/>
              <a:buChar char="•"/>
            </a:pPr>
            <a:r>
              <a:rPr lang="en-US" sz="1150" dirty="0">
                <a:solidFill>
                  <a:srgbClr val="9CA3AF"/>
                </a:solidFill>
                <a:latin typeface="Calibri" pitchFamily="34" charset="0"/>
                <a:ea typeface="Calibri" pitchFamily="34" charset="-122"/>
                <a:cs typeface="Calibri" pitchFamily="34" charset="-120"/>
              </a:rPr>
              <a:t>Provider-agnostic: no single-vendor lock-in</a:t>
            </a:r>
            <a:endParaRPr lang="en-US" sz="1150" dirty="0"/>
          </a:p>
        </p:txBody>
      </p:sp>
      <p:sp>
        <p:nvSpPr>
          <p:cNvPr id="22" name="Shape 20"/>
          <p:cNvSpPr/>
          <p:nvPr/>
        </p:nvSpPr>
        <p:spPr>
          <a:xfrm>
            <a:off x="6309360" y="3063240"/>
            <a:ext cx="5303520" cy="2103120"/>
          </a:xfrm>
          <a:prstGeom prst="roundRect">
            <a:avLst>
              <a:gd name="adj" fmla="val 5217"/>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23" name="Text 21"/>
          <p:cNvSpPr/>
          <p:nvPr/>
        </p:nvSpPr>
        <p:spPr>
          <a:xfrm>
            <a:off x="6583680" y="3227832"/>
            <a:ext cx="4754880" cy="274320"/>
          </a:xfrm>
          <a:prstGeom prst="rect">
            <a:avLst/>
          </a:prstGeom>
          <a:noFill/>
          <a:ln/>
        </p:spPr>
        <p:txBody>
          <a:bodyPr wrap="square" lIns="0" tIns="0" rIns="0" bIns="0" rtlCol="0" anchor="ctr"/>
          <a:lstStyle/>
          <a:p>
            <a:pPr indent="0" marL="0">
              <a:buNone/>
            </a:pPr>
            <a:r>
              <a:rPr lang="en-US" sz="1300" b="1" dirty="0">
                <a:solidFill>
                  <a:srgbClr val="34D399"/>
                </a:solidFill>
                <a:latin typeface="Calibri" pitchFamily="34" charset="0"/>
                <a:ea typeface="Calibri" pitchFamily="34" charset="-122"/>
                <a:cs typeface="Calibri" pitchFamily="34" charset="-120"/>
              </a:rPr>
              <a:t>Runs entirely on free tiers</a:t>
            </a:r>
            <a:endParaRPr lang="en-US" sz="1300" dirty="0"/>
          </a:p>
        </p:txBody>
      </p:sp>
      <p:sp>
        <p:nvSpPr>
          <p:cNvPr id="24" name="Text 22"/>
          <p:cNvSpPr/>
          <p:nvPr/>
        </p:nvSpPr>
        <p:spPr>
          <a:xfrm>
            <a:off x="6583680" y="3611880"/>
            <a:ext cx="4754880" cy="68580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Role-split across two providers draws on two independent quotas at once — deterministic, so results stay cacheable and reproducible.</a:t>
            </a:r>
            <a:endParaRPr lang="en-US" sz="1100" dirty="0"/>
          </a:p>
        </p:txBody>
      </p:sp>
      <p:sp>
        <p:nvSpPr>
          <p:cNvPr id="25" name="Text 23"/>
          <p:cNvSpPr/>
          <p:nvPr/>
        </p:nvSpPr>
        <p:spPr>
          <a:xfrm>
            <a:off x="6492240" y="4315968"/>
            <a:ext cx="1645920" cy="658368"/>
          </a:xfrm>
          <a:prstGeom prst="rect">
            <a:avLst/>
          </a:prstGeom>
          <a:noFill/>
          <a:ln/>
        </p:spPr>
        <p:txBody>
          <a:bodyPr wrap="square" lIns="0" tIns="0" rIns="0" bIns="0" rtlCol="0" anchor="ctr"/>
          <a:lstStyle/>
          <a:p>
            <a:pPr algn="ctr" indent="0" marL="0">
              <a:buNone/>
            </a:pPr>
            <a:r>
              <a:rPr lang="en-US" sz="4000" b="1" dirty="0">
                <a:solidFill>
                  <a:srgbClr val="34D399"/>
                </a:solidFill>
                <a:latin typeface="Calibri" pitchFamily="34" charset="0"/>
                <a:ea typeface="Calibri" pitchFamily="34" charset="-122"/>
                <a:cs typeface="Calibri" pitchFamily="34" charset="-120"/>
              </a:rPr>
              <a:t>$0</a:t>
            </a:r>
            <a:endParaRPr lang="en-US" sz="4000" dirty="0"/>
          </a:p>
        </p:txBody>
      </p:sp>
      <p:sp>
        <p:nvSpPr>
          <p:cNvPr id="26" name="Text 24"/>
          <p:cNvSpPr/>
          <p:nvPr/>
        </p:nvSpPr>
        <p:spPr>
          <a:xfrm>
            <a:off x="6492240" y="4956048"/>
            <a:ext cx="1645920" cy="45720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cost per run</a:t>
            </a:r>
            <a:endParaRPr lang="en-US" sz="1100" dirty="0"/>
          </a:p>
        </p:txBody>
      </p:sp>
      <p:sp>
        <p:nvSpPr>
          <p:cNvPr id="27" name="Text 25"/>
          <p:cNvSpPr/>
          <p:nvPr/>
        </p:nvSpPr>
        <p:spPr>
          <a:xfrm>
            <a:off x="8229600" y="4315968"/>
            <a:ext cx="1645920" cy="658368"/>
          </a:xfrm>
          <a:prstGeom prst="rect">
            <a:avLst/>
          </a:prstGeom>
          <a:noFill/>
          <a:ln/>
        </p:spPr>
        <p:txBody>
          <a:bodyPr wrap="square" lIns="0" tIns="0" rIns="0" bIns="0" rtlCol="0" anchor="ctr"/>
          <a:lstStyle/>
          <a:p>
            <a:pPr algn="ctr" indent="0" marL="0">
              <a:buNone/>
            </a:pPr>
            <a:r>
              <a:rPr lang="en-US" sz="4000" b="1" dirty="0">
                <a:solidFill>
                  <a:srgbClr val="22D3EE"/>
                </a:solidFill>
                <a:latin typeface="Calibri" pitchFamily="34" charset="0"/>
                <a:ea typeface="Calibri" pitchFamily="34" charset="-122"/>
                <a:cs typeface="Calibri" pitchFamily="34" charset="-120"/>
              </a:rPr>
              <a:t>~15</a:t>
            </a:r>
            <a:endParaRPr lang="en-US" sz="4000" dirty="0"/>
          </a:p>
        </p:txBody>
      </p:sp>
      <p:sp>
        <p:nvSpPr>
          <p:cNvPr id="28" name="Text 26"/>
          <p:cNvSpPr/>
          <p:nvPr/>
        </p:nvSpPr>
        <p:spPr>
          <a:xfrm>
            <a:off x="8229600" y="4956048"/>
            <a:ext cx="1645920" cy="45720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runs / day free</a:t>
            </a:r>
            <a:endParaRPr lang="en-US" sz="1100" dirty="0"/>
          </a:p>
        </p:txBody>
      </p:sp>
      <p:sp>
        <p:nvSpPr>
          <p:cNvPr id="29" name="Text 27"/>
          <p:cNvSpPr/>
          <p:nvPr/>
        </p:nvSpPr>
        <p:spPr>
          <a:xfrm>
            <a:off x="9966960" y="4315968"/>
            <a:ext cx="1554480" cy="658368"/>
          </a:xfrm>
          <a:prstGeom prst="rect">
            <a:avLst/>
          </a:prstGeom>
          <a:noFill/>
          <a:ln/>
        </p:spPr>
        <p:txBody>
          <a:bodyPr wrap="square" lIns="0" tIns="0" rIns="0" bIns="0" rtlCol="0" anchor="ctr"/>
          <a:lstStyle/>
          <a:p>
            <a:pPr algn="ctr" indent="0" marL="0">
              <a:buNone/>
            </a:pPr>
            <a:r>
              <a:rPr lang="en-US" sz="4000" b="1" dirty="0">
                <a:solidFill>
                  <a:srgbClr val="8B5CF6"/>
                </a:solidFill>
                <a:latin typeface="Calibri" pitchFamily="34" charset="0"/>
                <a:ea typeface="Calibri" pitchFamily="34" charset="-122"/>
                <a:cs typeface="Calibri" pitchFamily="34" charset="-120"/>
              </a:rPr>
              <a:t>4</a:t>
            </a:r>
            <a:endParaRPr lang="en-US" sz="4000" dirty="0"/>
          </a:p>
        </p:txBody>
      </p:sp>
      <p:sp>
        <p:nvSpPr>
          <p:cNvPr id="30" name="Text 28"/>
          <p:cNvSpPr/>
          <p:nvPr/>
        </p:nvSpPr>
        <p:spPr>
          <a:xfrm>
            <a:off x="9966960" y="4956048"/>
            <a:ext cx="1554480" cy="45720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swappable LLMs</a:t>
            </a:r>
            <a:endParaRPr lang="en-US" sz="1100" dirty="0"/>
          </a:p>
        </p:txBody>
      </p:sp>
      <p:sp>
        <p:nvSpPr>
          <p:cNvPr id="31" name="Shape 29"/>
          <p:cNvSpPr/>
          <p:nvPr/>
        </p:nvSpPr>
        <p:spPr>
          <a:xfrm>
            <a:off x="548640" y="5349240"/>
            <a:ext cx="11064240" cy="914400"/>
          </a:xfrm>
          <a:prstGeom prst="roundRect">
            <a:avLst>
              <a:gd name="adj" fmla="val 12000"/>
            </a:avLst>
          </a:prstGeom>
          <a:solidFill>
            <a:srgbClr val="16162B"/>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32" name="Text 30"/>
          <p:cNvSpPr/>
          <p:nvPr/>
        </p:nvSpPr>
        <p:spPr>
          <a:xfrm>
            <a:off x="822960" y="5596128"/>
            <a:ext cx="640080" cy="274320"/>
          </a:xfrm>
          <a:prstGeom prst="rect">
            <a:avLst/>
          </a:prstGeom>
          <a:noFill/>
          <a:ln/>
        </p:spPr>
        <p:txBody>
          <a:bodyPr wrap="square" lIns="0" tIns="0" rIns="0" bIns="0" rtlCol="0" anchor="ctr"/>
          <a:lstStyle/>
          <a:p>
            <a:pPr indent="0" marL="0">
              <a:buNone/>
            </a:pPr>
            <a:r>
              <a:rPr lang="en-US" sz="1200" b="1" dirty="0">
                <a:solidFill>
                  <a:srgbClr val="8B5CF6"/>
                </a:solidFill>
                <a:latin typeface="Calibri" pitchFamily="34" charset="0"/>
                <a:ea typeface="Calibri" pitchFamily="34" charset="-122"/>
                <a:cs typeface="Calibri" pitchFamily="34" charset="-120"/>
              </a:rPr>
              <a:t>Next</a:t>
            </a:r>
            <a:endParaRPr lang="en-US" sz="1200" dirty="0"/>
          </a:p>
        </p:txBody>
      </p:sp>
      <p:sp>
        <p:nvSpPr>
          <p:cNvPr id="33" name="Text 31"/>
          <p:cNvSpPr/>
          <p:nvPr/>
        </p:nvSpPr>
        <p:spPr>
          <a:xfrm>
            <a:off x="1463040" y="5541264"/>
            <a:ext cx="9921240" cy="54864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Fitted calibration on FEVER / AVeriTeC   →   local MiniCheck entailment (400× cheaper)   →   knowledge-graph claim linking   →   real-time newsroom API</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1463040" y="3108960"/>
            <a:ext cx="6035040" cy="6035040"/>
          </a:xfrm>
          <a:prstGeom prst="ellipse">
            <a:avLst/>
          </a:prstGeom>
          <a:solidFill>
            <a:srgbClr val="8B5CF6">
              <a:alpha val="11000"/>
            </a:srgbClr>
          </a:solidFill>
          <a:ln w="12700">
            <a:solidFill>
              <a:srgbClr val="333333"/>
            </a:solidFill>
            <a:prstDash val="solid"/>
          </a:ln>
        </p:spPr>
      </p:sp>
      <p:sp>
        <p:nvSpPr>
          <p:cNvPr id="3" name="Shape 1"/>
          <p:cNvSpPr/>
          <p:nvPr/>
        </p:nvSpPr>
        <p:spPr>
          <a:xfrm>
            <a:off x="8595360" y="-1828800"/>
            <a:ext cx="5120640" cy="5120640"/>
          </a:xfrm>
          <a:prstGeom prst="ellipse">
            <a:avLst/>
          </a:prstGeom>
          <a:solidFill>
            <a:srgbClr val="22D3EE">
              <a:alpha val="9000"/>
            </a:srgbClr>
          </a:solidFill>
          <a:ln w="12700">
            <a:solidFill>
              <a:srgbClr val="333333"/>
            </a:solidFill>
            <a:prstDash val="solid"/>
          </a:ln>
        </p:spPr>
      </p:sp>
      <p:sp>
        <p:nvSpPr>
          <p:cNvPr id="4" name="Text 2"/>
          <p:cNvSpPr/>
          <p:nvPr/>
        </p:nvSpPr>
        <p:spPr>
          <a:xfrm>
            <a:off x="640080" y="548640"/>
            <a:ext cx="7315200" cy="274320"/>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WHY VERITAS SHOULD WIN</a:t>
            </a:r>
            <a:endParaRPr lang="en-US" sz="1100" dirty="0"/>
          </a:p>
        </p:txBody>
      </p:sp>
      <p:sp>
        <p:nvSpPr>
          <p:cNvPr id="5" name="Text 3"/>
          <p:cNvSpPr/>
          <p:nvPr/>
        </p:nvSpPr>
        <p:spPr>
          <a:xfrm>
            <a:off x="640080" y="914400"/>
            <a:ext cx="7863840" cy="1371600"/>
          </a:xfrm>
          <a:prstGeom prst="rect">
            <a:avLst/>
          </a:prstGeom>
          <a:noFill/>
          <a:ln/>
        </p:spPr>
        <p:txBody>
          <a:bodyPr wrap="square" lIns="0" tIns="0" rIns="0" bIns="0" rtlCol="0" anchor="ctr"/>
          <a:lstStyle/>
          <a:p>
            <a:pPr indent="0" marL="0">
              <a:lnSpc>
                <a:spcPts val="4200"/>
              </a:lnSpc>
              <a:buNone/>
            </a:pPr>
            <a:r>
              <a:rPr lang="en-US" sz="3600" b="1" dirty="0">
                <a:solidFill>
                  <a:srgbClr val="F4F4F5"/>
                </a:solidFill>
                <a:latin typeface="Calibri" pitchFamily="34" charset="0"/>
                <a:ea typeface="Calibri" pitchFamily="34" charset="-122"/>
                <a:cs typeface="Calibri" pitchFamily="34" charset="-120"/>
              </a:rPr>
              <a:t>We measured our own system</a:t>
            </a:r>
            <a:endParaRPr lang="en-US" sz="3600" dirty="0"/>
          </a:p>
          <a:p>
            <a:pPr indent="0" marL="0">
              <a:lnSpc>
                <a:spcPts val="4200"/>
              </a:lnSpc>
              <a:buNone/>
            </a:pPr>
            <a:r>
              <a:rPr lang="en-US" sz="3600" b="1" dirty="0">
                <a:solidFill>
                  <a:srgbClr val="F4F4F5"/>
                </a:solidFill>
                <a:latin typeface="Calibri" pitchFamily="34" charset="0"/>
                <a:ea typeface="Calibri" pitchFamily="34" charset="-122"/>
                <a:cs typeface="Calibri" pitchFamily="34" charset="-120"/>
              </a:rPr>
              <a:t>the way we measure claims.</a:t>
            </a:r>
            <a:endParaRPr lang="en-US" sz="3600" dirty="0"/>
          </a:p>
        </p:txBody>
      </p:sp>
      <p:sp>
        <p:nvSpPr>
          <p:cNvPr id="6" name="Shape 4"/>
          <p:cNvSpPr/>
          <p:nvPr/>
        </p:nvSpPr>
        <p:spPr>
          <a:xfrm>
            <a:off x="658368" y="2596896"/>
            <a:ext cx="164592" cy="164592"/>
          </a:xfrm>
          <a:prstGeom prst="ellipse">
            <a:avLst/>
          </a:prstGeom>
          <a:solidFill>
            <a:srgbClr val="34D399"/>
          </a:solidFill>
          <a:ln w="12700">
            <a:solidFill>
              <a:srgbClr val="333333"/>
            </a:solidFill>
            <a:prstDash val="solid"/>
          </a:ln>
        </p:spPr>
      </p:sp>
      <p:sp>
        <p:nvSpPr>
          <p:cNvPr id="7" name="Text 5"/>
          <p:cNvSpPr/>
          <p:nvPr/>
        </p:nvSpPr>
        <p:spPr>
          <a:xfrm>
            <a:off x="987552" y="2514600"/>
            <a:ext cx="7589520" cy="329184"/>
          </a:xfrm>
          <a:prstGeom prst="rect">
            <a:avLst/>
          </a:prstGeom>
          <a:noFill/>
          <a:ln/>
        </p:spPr>
        <p:txBody>
          <a:bodyPr wrap="square" lIns="0" tIns="0" rIns="0" bIns="0" rtlCol="0" anchor="ctr"/>
          <a:lstStyle/>
          <a:p>
            <a:pPr indent="0" marL="0">
              <a:buNone/>
            </a:pPr>
            <a:r>
              <a:rPr lang="en-US" sz="1350" dirty="0">
                <a:solidFill>
                  <a:srgbClr val="F4F4F5"/>
                </a:solidFill>
                <a:latin typeface="Calibri" pitchFamily="34" charset="0"/>
                <a:ea typeface="Calibri" pitchFamily="34" charset="-122"/>
                <a:cs typeface="Calibri" pitchFamily="34" charset="-120"/>
              </a:rPr>
              <a:t>Rejected the obvious architecture — with published evidence</a:t>
            </a:r>
            <a:endParaRPr lang="en-US" sz="1350" dirty="0"/>
          </a:p>
        </p:txBody>
      </p:sp>
      <p:sp>
        <p:nvSpPr>
          <p:cNvPr id="8" name="Shape 6"/>
          <p:cNvSpPr/>
          <p:nvPr/>
        </p:nvSpPr>
        <p:spPr>
          <a:xfrm>
            <a:off x="658368" y="3072384"/>
            <a:ext cx="164592" cy="164592"/>
          </a:xfrm>
          <a:prstGeom prst="ellipse">
            <a:avLst/>
          </a:prstGeom>
          <a:solidFill>
            <a:srgbClr val="22D3EE"/>
          </a:solidFill>
          <a:ln w="12700">
            <a:solidFill>
              <a:srgbClr val="333333"/>
            </a:solidFill>
            <a:prstDash val="solid"/>
          </a:ln>
        </p:spPr>
      </p:sp>
      <p:sp>
        <p:nvSpPr>
          <p:cNvPr id="9" name="Text 7"/>
          <p:cNvSpPr/>
          <p:nvPr/>
        </p:nvSpPr>
        <p:spPr>
          <a:xfrm>
            <a:off x="987552" y="2990088"/>
            <a:ext cx="7589520" cy="329184"/>
          </a:xfrm>
          <a:prstGeom prst="rect">
            <a:avLst/>
          </a:prstGeom>
          <a:noFill/>
          <a:ln/>
        </p:spPr>
        <p:txBody>
          <a:bodyPr wrap="square" lIns="0" tIns="0" rIns="0" bIns="0" rtlCol="0" anchor="ctr"/>
          <a:lstStyle/>
          <a:p>
            <a:pPr indent="0" marL="0">
              <a:buNone/>
            </a:pPr>
            <a:r>
              <a:rPr lang="en-US" sz="1350" dirty="0">
                <a:solidFill>
                  <a:srgbClr val="F4F4F5"/>
                </a:solidFill>
                <a:latin typeface="Calibri" pitchFamily="34" charset="0"/>
                <a:ea typeface="Calibri" pitchFamily="34" charset="-122"/>
                <a:cs typeface="Calibri" pitchFamily="34" charset="-120"/>
              </a:rPr>
              <a:t>13 agents, 2 dynamic fan-outs, 230 tests, 0 lint errors</a:t>
            </a:r>
            <a:endParaRPr lang="en-US" sz="1350" dirty="0"/>
          </a:p>
        </p:txBody>
      </p:sp>
      <p:sp>
        <p:nvSpPr>
          <p:cNvPr id="10" name="Shape 8"/>
          <p:cNvSpPr/>
          <p:nvPr/>
        </p:nvSpPr>
        <p:spPr>
          <a:xfrm>
            <a:off x="658368" y="3547872"/>
            <a:ext cx="164592" cy="164592"/>
          </a:xfrm>
          <a:prstGeom prst="ellipse">
            <a:avLst/>
          </a:prstGeom>
          <a:solidFill>
            <a:srgbClr val="8B5CF6"/>
          </a:solidFill>
          <a:ln w="12700">
            <a:solidFill>
              <a:srgbClr val="333333"/>
            </a:solidFill>
            <a:prstDash val="solid"/>
          </a:ln>
        </p:spPr>
      </p:sp>
      <p:sp>
        <p:nvSpPr>
          <p:cNvPr id="11" name="Text 9"/>
          <p:cNvSpPr/>
          <p:nvPr/>
        </p:nvSpPr>
        <p:spPr>
          <a:xfrm>
            <a:off x="987552" y="3465576"/>
            <a:ext cx="7589520" cy="329184"/>
          </a:xfrm>
          <a:prstGeom prst="rect">
            <a:avLst/>
          </a:prstGeom>
          <a:noFill/>
          <a:ln/>
        </p:spPr>
        <p:txBody>
          <a:bodyPr wrap="square" lIns="0" tIns="0" rIns="0" bIns="0" rtlCol="0" anchor="ctr"/>
          <a:lstStyle/>
          <a:p>
            <a:pPr indent="0" marL="0">
              <a:buNone/>
            </a:pPr>
            <a:r>
              <a:rPr lang="en-US" sz="1350" dirty="0">
                <a:solidFill>
                  <a:srgbClr val="F4F4F5"/>
                </a:solidFill>
                <a:latin typeface="Calibri" pitchFamily="34" charset="0"/>
                <a:ea typeface="Calibri" pitchFamily="34" charset="-122"/>
                <a:cs typeface="Calibri" pitchFamily="34" charset="-120"/>
              </a:rPr>
              <a:t>Calibrated confidence — not an LLM guessing about itself</a:t>
            </a:r>
            <a:endParaRPr lang="en-US" sz="1350" dirty="0"/>
          </a:p>
        </p:txBody>
      </p:sp>
      <p:sp>
        <p:nvSpPr>
          <p:cNvPr id="12" name="Shape 10"/>
          <p:cNvSpPr/>
          <p:nvPr/>
        </p:nvSpPr>
        <p:spPr>
          <a:xfrm>
            <a:off x="658368" y="4023360"/>
            <a:ext cx="164592" cy="164592"/>
          </a:xfrm>
          <a:prstGeom prst="ellipse">
            <a:avLst/>
          </a:prstGeom>
          <a:solidFill>
            <a:srgbClr val="FBBF24"/>
          </a:solidFill>
          <a:ln w="12700">
            <a:solidFill>
              <a:srgbClr val="333333"/>
            </a:solidFill>
            <a:prstDash val="solid"/>
          </a:ln>
        </p:spPr>
      </p:sp>
      <p:sp>
        <p:nvSpPr>
          <p:cNvPr id="13" name="Text 11"/>
          <p:cNvSpPr/>
          <p:nvPr/>
        </p:nvSpPr>
        <p:spPr>
          <a:xfrm>
            <a:off x="987552" y="3941064"/>
            <a:ext cx="7589520" cy="329184"/>
          </a:xfrm>
          <a:prstGeom prst="rect">
            <a:avLst/>
          </a:prstGeom>
          <a:noFill/>
          <a:ln/>
        </p:spPr>
        <p:txBody>
          <a:bodyPr wrap="square" lIns="0" tIns="0" rIns="0" bIns="0" rtlCol="0" anchor="ctr"/>
          <a:lstStyle/>
          <a:p>
            <a:pPr indent="0" marL="0">
              <a:buNone/>
            </a:pPr>
            <a:r>
              <a:rPr lang="en-US" sz="1350" dirty="0">
                <a:solidFill>
                  <a:srgbClr val="F4F4F5"/>
                </a:solidFill>
                <a:latin typeface="Calibri" pitchFamily="34" charset="0"/>
                <a:ea typeface="Calibri" pitchFamily="34" charset="-122"/>
                <a:cs typeface="Calibri" pitchFamily="34" charset="-120"/>
              </a:rPr>
              <a:t>Deployed, public, and running on free tiers today</a:t>
            </a:r>
            <a:endParaRPr lang="en-US" sz="1350" dirty="0"/>
          </a:p>
        </p:txBody>
      </p:sp>
      <p:sp>
        <p:nvSpPr>
          <p:cNvPr id="14" name="Shape 12"/>
          <p:cNvSpPr/>
          <p:nvPr/>
        </p:nvSpPr>
        <p:spPr>
          <a:xfrm>
            <a:off x="8869680" y="914400"/>
            <a:ext cx="2743200" cy="3566160"/>
          </a:xfrm>
          <a:prstGeom prst="roundRect">
            <a:avLst>
              <a:gd name="adj" fmla="val 4000"/>
            </a:avLst>
          </a:prstGeom>
          <a:solidFill>
            <a:srgbClr val="1C1C34"/>
          </a:solidFill>
          <a:ln w="12700">
            <a:solidFill>
              <a:srgbClr val="2A2A45"/>
            </a:solidFill>
            <a:prstDash val="solid"/>
          </a:ln>
          <a:effectLst>
            <a:outerShdw sx="100000" sy="100000" kx="0" ky="0" algn="bl" rotWithShape="0" blurRad="228600" dist="38100" dir="5400000">
              <a:srgbClr val="000000">
                <a:alpha val="45000"/>
              </a:srgbClr>
            </a:outerShdw>
          </a:effectLst>
        </p:spPr>
      </p:sp>
      <p:sp>
        <p:nvSpPr>
          <p:cNvPr id="15" name="Text 13"/>
          <p:cNvSpPr/>
          <p:nvPr/>
        </p:nvSpPr>
        <p:spPr>
          <a:xfrm>
            <a:off x="9098280" y="1143000"/>
            <a:ext cx="2286000" cy="256032"/>
          </a:xfrm>
          <a:prstGeom prst="rect">
            <a:avLst/>
          </a:prstGeom>
          <a:noFill/>
          <a:ln/>
        </p:spPr>
        <p:txBody>
          <a:bodyPr wrap="square" lIns="0" tIns="0" rIns="0" bIns="0" rtlCol="0" anchor="ctr"/>
          <a:lstStyle/>
          <a:p>
            <a:pPr indent="0" marL="0">
              <a:buNone/>
            </a:pPr>
            <a:r>
              <a:rPr lang="en-US" sz="1050" b="1" dirty="0">
                <a:solidFill>
                  <a:srgbClr val="22D3EE"/>
                </a:solidFill>
                <a:latin typeface="Calibri" pitchFamily="34" charset="0"/>
                <a:ea typeface="Calibri" pitchFamily="34" charset="-122"/>
                <a:cs typeface="Calibri" pitchFamily="34" charset="-120"/>
              </a:rPr>
              <a:t>Live demo</a:t>
            </a:r>
            <a:endParaRPr lang="en-US" sz="1050" dirty="0"/>
          </a:p>
        </p:txBody>
      </p:sp>
      <p:sp>
        <p:nvSpPr>
          <p:cNvPr id="16" name="Text 14"/>
          <p:cNvSpPr/>
          <p:nvPr/>
        </p:nvSpPr>
        <p:spPr>
          <a:xfrm>
            <a:off x="9098280" y="1417320"/>
            <a:ext cx="2286000" cy="548640"/>
          </a:xfrm>
          <a:prstGeom prst="rect">
            <a:avLst/>
          </a:prstGeom>
          <a:noFill/>
          <a:ln/>
        </p:spPr>
        <p:txBody>
          <a:bodyPr wrap="square" lIns="0" tIns="0" rIns="0" bIns="0" rtlCol="0" anchor="ctr"/>
          <a:lstStyle/>
          <a:p>
            <a:pPr indent="0" marL="0">
              <a:buNone/>
            </a:pPr>
            <a:r>
              <a:rPr lang="en-US" sz="1150" dirty="0">
                <a:solidFill>
                  <a:srgbClr val="F4F4F5"/>
                </a:solidFill>
                <a:latin typeface="Calibri" pitchFamily="34" charset="0"/>
                <a:ea typeface="Calibri" pitchFamily="34" charset="-122"/>
                <a:cs typeface="Calibri" pitchFamily="34" charset="-120"/>
              </a:rPr>
              <a:t>innova-hackathon</a:t>
            </a:r>
            <a:endParaRPr lang="en-US" sz="1150" dirty="0"/>
          </a:p>
          <a:p>
            <a:pPr indent="0" marL="0">
              <a:buNone/>
            </a:pPr>
            <a:r>
              <a:rPr lang="en-US" sz="1150" dirty="0">
                <a:solidFill>
                  <a:srgbClr val="F4F4F5"/>
                </a:solidFill>
                <a:latin typeface="Calibri" pitchFamily="34" charset="0"/>
                <a:ea typeface="Calibri" pitchFamily="34" charset="-122"/>
                <a:cs typeface="Calibri" pitchFamily="34" charset="-120"/>
              </a:rPr>
              <a:t>.onrender.com</a:t>
            </a:r>
            <a:endParaRPr lang="en-US" sz="1150" dirty="0"/>
          </a:p>
        </p:txBody>
      </p:sp>
      <p:sp>
        <p:nvSpPr>
          <p:cNvPr id="17" name="Text 15"/>
          <p:cNvSpPr/>
          <p:nvPr/>
        </p:nvSpPr>
        <p:spPr>
          <a:xfrm>
            <a:off x="9098280" y="2103120"/>
            <a:ext cx="2286000" cy="256032"/>
          </a:xfrm>
          <a:prstGeom prst="rect">
            <a:avLst/>
          </a:prstGeom>
          <a:noFill/>
          <a:ln/>
        </p:spPr>
        <p:txBody>
          <a:bodyPr wrap="square" lIns="0" tIns="0" rIns="0" bIns="0" rtlCol="0" anchor="ctr"/>
          <a:lstStyle/>
          <a:p>
            <a:pPr indent="0" marL="0">
              <a:buNone/>
            </a:pPr>
            <a:r>
              <a:rPr lang="en-US" sz="1050" b="1" dirty="0">
                <a:solidFill>
                  <a:srgbClr val="22D3EE"/>
                </a:solidFill>
                <a:latin typeface="Calibri" pitchFamily="34" charset="0"/>
                <a:ea typeface="Calibri" pitchFamily="34" charset="-122"/>
                <a:cs typeface="Calibri" pitchFamily="34" charset="-120"/>
              </a:rPr>
              <a:t>Source</a:t>
            </a:r>
            <a:endParaRPr lang="en-US" sz="1050" dirty="0"/>
          </a:p>
        </p:txBody>
      </p:sp>
      <p:sp>
        <p:nvSpPr>
          <p:cNvPr id="18" name="Text 16"/>
          <p:cNvSpPr/>
          <p:nvPr/>
        </p:nvSpPr>
        <p:spPr>
          <a:xfrm>
            <a:off x="9098280" y="2377440"/>
            <a:ext cx="2286000" cy="548640"/>
          </a:xfrm>
          <a:prstGeom prst="rect">
            <a:avLst/>
          </a:prstGeom>
          <a:noFill/>
          <a:ln/>
        </p:spPr>
        <p:txBody>
          <a:bodyPr wrap="square" lIns="0" tIns="0" rIns="0" bIns="0" rtlCol="0" anchor="ctr"/>
          <a:lstStyle/>
          <a:p>
            <a:pPr indent="0" marL="0">
              <a:buNone/>
            </a:pPr>
            <a:r>
              <a:rPr lang="en-US" sz="1150" dirty="0">
                <a:solidFill>
                  <a:srgbClr val="F4F4F5"/>
                </a:solidFill>
                <a:latin typeface="Calibri" pitchFamily="34" charset="0"/>
                <a:ea typeface="Calibri" pitchFamily="34" charset="-122"/>
                <a:cs typeface="Calibri" pitchFamily="34" charset="-120"/>
              </a:rPr>
              <a:t>github.com/avinas29</a:t>
            </a:r>
            <a:endParaRPr lang="en-US" sz="1150" dirty="0"/>
          </a:p>
          <a:p>
            <a:pPr indent="0" marL="0">
              <a:buNone/>
            </a:pPr>
            <a:r>
              <a:rPr lang="en-US" sz="1150" dirty="0">
                <a:solidFill>
                  <a:srgbClr val="F4F4F5"/>
                </a:solidFill>
                <a:latin typeface="Calibri" pitchFamily="34" charset="0"/>
                <a:ea typeface="Calibri" pitchFamily="34" charset="-122"/>
                <a:cs typeface="Calibri" pitchFamily="34" charset="-120"/>
              </a:rPr>
              <a:t>/innova-hackathon</a:t>
            </a:r>
            <a:endParaRPr lang="en-US" sz="1150" dirty="0"/>
          </a:p>
        </p:txBody>
      </p:sp>
      <p:sp>
        <p:nvSpPr>
          <p:cNvPr id="19" name="Text 17"/>
          <p:cNvSpPr/>
          <p:nvPr/>
        </p:nvSpPr>
        <p:spPr>
          <a:xfrm>
            <a:off x="9098280" y="3108960"/>
            <a:ext cx="2286000" cy="256032"/>
          </a:xfrm>
          <a:prstGeom prst="rect">
            <a:avLst/>
          </a:prstGeom>
          <a:noFill/>
          <a:ln/>
        </p:spPr>
        <p:txBody>
          <a:bodyPr wrap="square" lIns="0" tIns="0" rIns="0" bIns="0" rtlCol="0" anchor="ctr"/>
          <a:lstStyle/>
          <a:p>
            <a:pPr indent="0" marL="0">
              <a:buNone/>
            </a:pPr>
            <a:r>
              <a:rPr lang="en-US" sz="1050" b="1" dirty="0">
                <a:solidFill>
                  <a:srgbClr val="22D3EE"/>
                </a:solidFill>
                <a:latin typeface="Calibri" pitchFamily="34" charset="0"/>
                <a:ea typeface="Calibri" pitchFamily="34" charset="-122"/>
                <a:cs typeface="Calibri" pitchFamily="34" charset="-120"/>
              </a:rPr>
              <a:t>Team Peakbuster</a:t>
            </a:r>
            <a:endParaRPr lang="en-US" sz="1050" dirty="0"/>
          </a:p>
        </p:txBody>
      </p:sp>
      <p:sp>
        <p:nvSpPr>
          <p:cNvPr id="20" name="Text 18"/>
          <p:cNvSpPr/>
          <p:nvPr/>
        </p:nvSpPr>
        <p:spPr>
          <a:xfrm>
            <a:off x="9098280" y="3383280"/>
            <a:ext cx="2286000" cy="86868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umam.ali@iitg.ac.in</a:t>
            </a:r>
            <a:endParaRPr lang="en-US" sz="1050" dirty="0"/>
          </a:p>
          <a:p>
            <a:pPr indent="0" marL="0">
              <a:buNone/>
            </a:pPr>
            <a:r>
              <a:rPr lang="en-US" sz="1050" dirty="0">
                <a:solidFill>
                  <a:srgbClr val="9CA3AF"/>
                </a:solidFill>
                <a:latin typeface="Calibri" pitchFamily="34" charset="0"/>
                <a:ea typeface="Calibri" pitchFamily="34" charset="-122"/>
                <a:cs typeface="Calibri" pitchFamily="34" charset="-120"/>
              </a:rPr>
              <a:t>r.atulaya@iitg.ac.in</a:t>
            </a:r>
            <a:endParaRPr lang="en-US" sz="1050" dirty="0"/>
          </a:p>
          <a:p>
            <a:pPr indent="0" marL="0">
              <a:buNone/>
            </a:pPr>
            <a:r>
              <a:rPr lang="en-US" sz="1050" dirty="0">
                <a:solidFill>
                  <a:srgbClr val="9CA3AF"/>
                </a:solidFill>
                <a:latin typeface="Calibri" pitchFamily="34" charset="0"/>
                <a:ea typeface="Calibri" pitchFamily="34" charset="-122"/>
                <a:cs typeface="Calibri" pitchFamily="34" charset="-120"/>
              </a:rPr>
              <a:t>+91 7060001402</a:t>
            </a:r>
            <a:endParaRPr lang="en-US" sz="1050" dirty="0"/>
          </a:p>
        </p:txBody>
      </p:sp>
      <p:sp>
        <p:nvSpPr>
          <p:cNvPr id="21" name="Text 19"/>
          <p:cNvSpPr/>
          <p:nvPr/>
        </p:nvSpPr>
        <p:spPr>
          <a:xfrm>
            <a:off x="640080" y="4846320"/>
            <a:ext cx="7863840" cy="731520"/>
          </a:xfrm>
          <a:prstGeom prst="rect">
            <a:avLst/>
          </a:prstGeom>
          <a:noFill/>
          <a:ln/>
        </p:spPr>
        <p:txBody>
          <a:bodyPr wrap="square" lIns="0" tIns="0" rIns="0" bIns="0" rtlCol="0" anchor="ctr"/>
          <a:lstStyle/>
          <a:p>
            <a:pPr indent="0" marL="0">
              <a:buNone/>
            </a:pPr>
            <a:r>
              <a:rPr lang="en-US" sz="1900" b="1" i="1" dirty="0">
                <a:solidFill>
                  <a:srgbClr val="8B5CF6"/>
                </a:solidFill>
                <a:latin typeface="Calibri" pitchFamily="34" charset="0"/>
                <a:ea typeface="Calibri" pitchFamily="34" charset="-122"/>
                <a:cs typeface="Calibri" pitchFamily="34" charset="-120"/>
              </a:rPr>
              <a:t>Anyone can build an agent that answers. We built one that tells you when it shouldn't.</a:t>
            </a:r>
            <a:endParaRPr lang="en-US" sz="1900" dirty="0"/>
          </a:p>
        </p:txBody>
      </p:sp>
      <p:sp>
        <p:nvSpPr>
          <p:cNvPr id="22" name="Text 20"/>
          <p:cNvSpPr/>
          <p:nvPr/>
        </p:nvSpPr>
        <p:spPr>
          <a:xfrm>
            <a:off x="640080" y="5943600"/>
            <a:ext cx="109728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Avinash   ·   Atulaya Raj   ·   Mohammad Umam Ali        IIT Guwahati   ·   InnovaHack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VERITAS — Autonomous Multi-Agent Research &amp; Fact Verification</dc:title>
  <dc:subject>PptxGenJS Presentation</dc:subject>
  <dc:creator>Team Peakbuster</dc:creator>
  <cp:lastModifiedBy>Team Peakbuster</cp:lastModifiedBy>
  <cp:revision>1</cp:revision>
  <dcterms:created xsi:type="dcterms:W3CDTF">2026-07-26T01:30:52Z</dcterms:created>
  <dcterms:modified xsi:type="dcterms:W3CDTF">2026-07-26T01:30:52Z</dcterms:modified>
</cp:coreProperties>
</file>